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three, a warning reached some official. Nobody turned it into 'close this stretch, move these people, now' — and nobody can show who decided.
Facts (docs/research.md): Amarnath 8 Jul 2022 — MoES said the upper reaches may have had more rain, 'for which data are not available'. Chasoti 14 Aug 2025 — IMD had issued alerts for the Chenab valley region; about 61-64 died; IMD's J&amp;K director called compliance 'very little or negligible'. Adhkuwari 26 Aug 2025 — at least 34 died at 14:40; the board says it closed the old track by 12:00; the inquiry report is not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already has the pieces, in silos. IMD and GSI warn at district scale (no J&amp;K district is on GSI's published bulletin list). The shrine boards know where people are through RFID and CCTV, but those systems have no slope-hazard input. SACHET sends CAP alerts to areas, not to people in transit on a track with weak mobile coverage. And nobody records who approved what. The missing step is from 'district alert' to 'pilgrim on segment X'.
Who benefits: pilgrims (Vaishno Devi cap 50,000 a day), pony and palki operators, shopkeepers on the track, SDRF and police on duty.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YatraKavach splits the three Vaishno Devi tracks into 35 segments of about 500 m. Every hour it scores landslide hazard per segment from rain over 3 h, 24 h and 15 days against published Himalayan thresholds, with a step-up for steep slopes. It adds the people on each segment (SIMULATED RFID counts) and models the queue that builds when the ascent is stopped. It proposes one action per track and level. Nothing goes out automatically: a named officer approves; RED needs two different officers; no answer in 10 minutes escalates; a senior officer can break glass with a written reason. Every step goes into a hash-chained, append-only audit log. The approved alert is CAP 1.2 — the format SACHET already uses — in English, Hindi and Urdu. A camera frame can be counted with DM-Count to feed the crowd level; the demo uses licensed festival photos, not shrine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replay of 26 August 2025, run through the real API. With the GFS forecast, the old track at Adhkuwari reaches RED at 05:00 IST — about 9.5 hours before the 14:40 slide — and the Why panel shows the reasons in numbers: 24 h rain 154 mm against the 144 mm severe level. With ECMWF or ERA5 the lead is only about 1.5 hours — I say this openly: honesty is a feature.
The alert needs two different officers for RED; the CAP 1.2 message carries English, Hindi and Urdu.
The cost of waiting (SIMULATED pilgrims): if officers had approved a hold at the first ORANGE warning, 0 pilgrims would have been on the slide segment at 14:00, instead of 674 — in all three weather models. At the first GFS RED it is 93. The cost is a queue at the Katra gate. A hold at ~12:00 at the Katra gate is too late for this segment: those people had already passed the gate. The real closure was at Adhkuwari; modelled there, 236 descending pilgrims remain (measured in PR 9, not in the API).
Holding the ascent fills the Katra gate to 5.4 persons per m² inside a segment that is itself RED: closing a track moves the risk to the people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prototype result vs pilot target. Lead time of RED before the slide: 1.5 to 9.5 hours in the 26 Aug 2025 replay, depending on the weather model; target at least 3 hours with IMD radar input. Every alert that goes out carries a named approver and a timestamp — the workflow does not allow otherwise. At the peak there are 6 open alerts, one per track and level, not a flood. Pilgrims on the slide segment at 14:00 (SIMULATED): 674 with no action, 0 if held at the first ORANGE in all three models; at the first RED, 93 with GFS and 674 with ECMWF and ERA5. Camera count error: MAE 60 people per image on ShanghaiTech Part A; to be validated on shrine-board CCTV. Time from proposal to decision is logged per alert; the pilot target is a median under 10 minutes.
Scale: the same engine works for Amarnath, Machail, Char Dham and Sabarimala — only segments and thresholds change. Languages are templates; Dogri, Kashmiri and Pahari need native speakers. It is open source and runs on one small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three phases. One: a one-monsoon pilot on the old track and Himkoti with the SMVDSB control room and SDRF — read-only, no public alerts — comparing the system's proposals with the real decisions. Two: calibrate with local slide records, the IMD radar feed, 3 to 5 rain gauges on the track and the GSI susceptibility layer. Three: integrate RFID gate counts, CCTV density, and send approved CAP alerts to SACHET, the app and the PA system.
What it needs: a data-sharing MoU, one server, a field-officer champion and native-speaker review of the Hindi and Urdu texts.
Limits, said openly: thresholds come from NH-44 and Nepal studies and are not calibrated for these tracks; forecast rain is on a 9-25 km grid; crowd data and delivery channels are SIMULATED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Ritik Bhardwaj, B.Tech IT at NIT Srinagar, a solo entry for J&amp;K. I framed the problem, made the design decisions, validated the results and own this pitch.
AI-use disclosure, as the rules require: I built YatraKavach with Claude Code from Anthropic as a coding and research agent. It did the web research and the sourced research report, most of the code, tests and documentation, and an independent code review that found two real bugs. I chose the problem and the J&amp;K focus, set the requirements, approved every design decision and fix, and checked the results. My estimate: about 60-65% of the code and documents were generated by AI under my direction.
Data: OpenStreetMap (ODbL), Copernicus DEM via Open-Meteo, Open-Meteo rain (CC BY 4.0), DM-Count (MIT), Wikimedia Commons demo photos. Everything simulated is labelled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rtlCol="0"/>
          <a:lstStyle>
            <a:lvl1pPr indent="0" marL="0">
              <a:buNone/>
              <a:defRPr lang="en-US" sz="3000" b="1" dirty="0">
                <a:solidFill>
                  <a:srgbClr val="13294B"/>
                </a:solidFill>
                <a:latin typeface="Calibri" pitchFamily="34" charset="0"/>
                <a:ea typeface="Calibri" pitchFamily="34" charset="-122"/>
                <a:cs typeface="Calibri" pitchFamily="34" charset="-120"/>
              </a:defRPr>
            </a:lvl1pPr>
          </a:lstStyle>
          <a:p>
            <a:pPr indent="0" marL="0">
              <a:buNone/>
            </a:pPr>
            <a:endParaRPr lang="en-US" sz="3000" dirty="0"/>
          </a:p>
        </p:txBody>
      </p:sp>
      <p:sp>
        <p:nvSpPr>
          <p:cNvPr id="3" name="Text 0"/>
          <p:cNvSpPr/>
          <p:nvPr/>
        </p:nvSpPr>
        <p:spPr>
          <a:xfrm>
            <a:off x="457200" y="6400800"/>
            <a:ext cx="96012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YatraKavach · team kavach · HSC|JK|00032 · Hack for Social Cause 2027 · Theme 11</a:t>
            </a:r>
            <a:endParaRPr lang="en-US" sz="1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The warning existed. The decision did not.</a:t>
            </a:r>
            <a:endParaRPr lang="en-US" sz="3000" dirty="0"/>
          </a:p>
        </p:txBody>
      </p:sp>
      <p:sp>
        <p:nvSpPr>
          <p:cNvPr id="3" name="timeline"/>
          <p:cNvSpPr/>
          <p:nvPr/>
        </p:nvSpPr>
        <p:spPr>
          <a:xfrm>
            <a:off x="914400" y="1965960"/>
            <a:ext cx="10360152" cy="0"/>
          </a:xfrm>
          <a:prstGeom prst="line">
            <a:avLst/>
          </a:prstGeom>
          <a:noFill/>
          <a:ln w="25400">
            <a:solidFill>
              <a:srgbClr val="D5DBE3"/>
            </a:solidFill>
            <a:prstDash val="solid"/>
          </a:ln>
        </p:spPr>
      </p:sp>
      <p:sp>
        <p:nvSpPr>
          <p:cNvPr id="4" name="event-dot-1"/>
          <p:cNvSpPr/>
          <p:nvPr/>
        </p:nvSpPr>
        <p:spPr>
          <a:xfrm>
            <a:off x="1860804" y="1554480"/>
            <a:ext cx="822960" cy="822960"/>
          </a:xfrm>
          <a:prstGeom prst="ellipse">
            <a:avLst/>
          </a:prstGeom>
          <a:solidFill>
            <a:srgbClr val="C62828"/>
          </a:solidFill>
          <a:ln w="38100">
            <a:solidFill>
              <a:srgbClr val="FFFFFF"/>
            </a:solidFill>
            <a:prstDash val="solid"/>
          </a:ln>
        </p:spPr>
      </p:sp>
      <p:pic>
        <p:nvPicPr>
          <p:cNvPr id="5" name="Image 0" descr="Amarnath cave">    </p:cNvPr>
          <p:cNvPicPr>
            <a:picLocks noChangeAspect="1"/>
          </p:cNvPicPr>
          <p:nvPr/>
        </p:nvPicPr>
        <p:blipFill>
          <a:blip r:embed="rId1"/>
          <a:stretch>
            <a:fillRect/>
          </a:stretch>
        </p:blipFill>
        <p:spPr>
          <a:xfrm>
            <a:off x="2043684" y="1737360"/>
            <a:ext cx="457200" cy="457200"/>
          </a:xfrm>
          <a:prstGeom prst="rect">
            <a:avLst/>
          </a:prstGeom>
        </p:spPr>
      </p:pic>
      <p:sp>
        <p:nvSpPr>
          <p:cNvPr id="6" name="event-card-1"/>
          <p:cNvSpPr/>
          <p:nvPr/>
        </p:nvSpPr>
        <p:spPr>
          <a:xfrm>
            <a:off x="457200" y="2606040"/>
            <a:ext cx="3630168" cy="1828800"/>
          </a:xfrm>
          <a:prstGeom prst="roundRect">
            <a:avLst>
              <a:gd name="adj" fmla="val 4000"/>
            </a:avLst>
          </a:prstGeom>
          <a:solidFill>
            <a:srgbClr val="F1F4F8"/>
          </a:solidFill>
          <a:ln w="12700">
            <a:solidFill>
              <a:srgbClr val="F1F4F8"/>
            </a:solidFill>
            <a:prstDash val="solid"/>
          </a:ln>
        </p:spPr>
      </p:sp>
      <p:sp>
        <p:nvSpPr>
          <p:cNvPr id="7" name="Text 4"/>
          <p:cNvSpPr txBox="1"/>
          <p:nvPr/>
        </p:nvSpPr>
        <p:spPr>
          <a:xfrm>
            <a:off x="685800" y="2743200"/>
            <a:ext cx="3172968" cy="365760"/>
          </a:xfrm>
          <a:prstGeom prst="rect">
            <a:avLst/>
          </a:prstGeom>
          <a:noFill/>
          <a:ln/>
        </p:spPr>
        <p:txBody>
          <a:bodyPr wrap="square" lIns="0" tIns="0" rIns="0" bIns="0" rtlCol="0" anchor="t"/>
          <a:lstStyle/>
          <a:p>
            <a:pPr indent="0" marL="0">
              <a:buNone/>
            </a:pPr>
            <a:r>
              <a:rPr lang="en-US" sz="2000" b="1" dirty="0">
                <a:solidFill>
                  <a:srgbClr val="C62828"/>
                </a:solidFill>
                <a:latin typeface="Calibri" pitchFamily="34" charset="0"/>
                <a:ea typeface="Calibri" pitchFamily="34" charset="-122"/>
                <a:cs typeface="Calibri" pitchFamily="34" charset="-120"/>
              </a:rPr>
              <a:t>8 Jul 2022</a:t>
            </a:r>
            <a:endParaRPr lang="en-US" sz="2000" dirty="0"/>
          </a:p>
        </p:txBody>
      </p:sp>
      <p:sp>
        <p:nvSpPr>
          <p:cNvPr id="8" name="Text 5"/>
          <p:cNvSpPr txBox="1"/>
          <p:nvPr/>
        </p:nvSpPr>
        <p:spPr>
          <a:xfrm>
            <a:off x="685800" y="3108960"/>
            <a:ext cx="3172968"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Amarnath cave</a:t>
            </a:r>
            <a:endParaRPr lang="en-US" sz="1600" dirty="0"/>
          </a:p>
        </p:txBody>
      </p:sp>
      <p:sp>
        <p:nvSpPr>
          <p:cNvPr id="9" name="Text 6"/>
          <p:cNvSpPr txBox="1"/>
          <p:nvPr/>
        </p:nvSpPr>
        <p:spPr>
          <a:xfrm>
            <a:off x="685800" y="3474720"/>
            <a:ext cx="3172968"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Flash flood. No rain data from the upper reaches.</a:t>
            </a:r>
            <a:endParaRPr lang="en-US" sz="1500" dirty="0"/>
          </a:p>
        </p:txBody>
      </p:sp>
      <p:sp>
        <p:nvSpPr>
          <p:cNvPr id="10" name="event-dot-2"/>
          <p:cNvSpPr/>
          <p:nvPr/>
        </p:nvSpPr>
        <p:spPr>
          <a:xfrm>
            <a:off x="5682996" y="1554480"/>
            <a:ext cx="822960" cy="822960"/>
          </a:xfrm>
          <a:prstGeom prst="ellipse">
            <a:avLst/>
          </a:prstGeom>
          <a:solidFill>
            <a:srgbClr val="C62828"/>
          </a:solidFill>
          <a:ln w="38100">
            <a:solidFill>
              <a:srgbClr val="FFFFFF"/>
            </a:solidFill>
            <a:prstDash val="solid"/>
          </a:ln>
        </p:spPr>
      </p:sp>
      <p:pic>
        <p:nvPicPr>
          <p:cNvPr id="11" name="Image 1" descr="Chasoti, Machail yatra">    </p:cNvPr>
          <p:cNvPicPr>
            <a:picLocks noChangeAspect="1"/>
          </p:cNvPicPr>
          <p:nvPr/>
        </p:nvPicPr>
        <p:blipFill>
          <a:blip r:embed="rId2"/>
          <a:stretch>
            <a:fillRect/>
          </a:stretch>
        </p:blipFill>
        <p:spPr>
          <a:xfrm>
            <a:off x="5865876" y="1737360"/>
            <a:ext cx="457200" cy="457200"/>
          </a:xfrm>
          <a:prstGeom prst="rect">
            <a:avLst/>
          </a:prstGeom>
        </p:spPr>
      </p:pic>
      <p:sp>
        <p:nvSpPr>
          <p:cNvPr id="12" name="event-card-2"/>
          <p:cNvSpPr/>
          <p:nvPr/>
        </p:nvSpPr>
        <p:spPr>
          <a:xfrm>
            <a:off x="4279392" y="2606040"/>
            <a:ext cx="3630168" cy="1828800"/>
          </a:xfrm>
          <a:prstGeom prst="roundRect">
            <a:avLst>
              <a:gd name="adj" fmla="val 4000"/>
            </a:avLst>
          </a:prstGeom>
          <a:solidFill>
            <a:srgbClr val="F1F4F8"/>
          </a:solidFill>
          <a:ln w="12700">
            <a:solidFill>
              <a:srgbClr val="F1F4F8"/>
            </a:solidFill>
            <a:prstDash val="solid"/>
          </a:ln>
        </p:spPr>
      </p:sp>
      <p:sp>
        <p:nvSpPr>
          <p:cNvPr id="13" name="Text 9"/>
          <p:cNvSpPr txBox="1"/>
          <p:nvPr/>
        </p:nvSpPr>
        <p:spPr>
          <a:xfrm>
            <a:off x="4507992" y="2743200"/>
            <a:ext cx="3172968" cy="365760"/>
          </a:xfrm>
          <a:prstGeom prst="rect">
            <a:avLst/>
          </a:prstGeom>
          <a:noFill/>
          <a:ln/>
        </p:spPr>
        <p:txBody>
          <a:bodyPr wrap="square" lIns="0" tIns="0" rIns="0" bIns="0" rtlCol="0" anchor="t"/>
          <a:lstStyle/>
          <a:p>
            <a:pPr indent="0" marL="0">
              <a:buNone/>
            </a:pPr>
            <a:r>
              <a:rPr lang="en-US" sz="2000" b="1" dirty="0">
                <a:solidFill>
                  <a:srgbClr val="C62828"/>
                </a:solidFill>
                <a:latin typeface="Calibri" pitchFamily="34" charset="0"/>
                <a:ea typeface="Calibri" pitchFamily="34" charset="-122"/>
                <a:cs typeface="Calibri" pitchFamily="34" charset="-120"/>
              </a:rPr>
              <a:t>14 Aug 2025</a:t>
            </a:r>
            <a:endParaRPr lang="en-US" sz="2000" dirty="0"/>
          </a:p>
        </p:txBody>
      </p:sp>
      <p:sp>
        <p:nvSpPr>
          <p:cNvPr id="14" name="Text 10"/>
          <p:cNvSpPr txBox="1"/>
          <p:nvPr/>
        </p:nvSpPr>
        <p:spPr>
          <a:xfrm>
            <a:off x="4507992" y="3108960"/>
            <a:ext cx="3172968"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Chasoti, Machail yatra</a:t>
            </a:r>
            <a:endParaRPr lang="en-US" sz="1600" dirty="0"/>
          </a:p>
        </p:txBody>
      </p:sp>
      <p:sp>
        <p:nvSpPr>
          <p:cNvPr id="15" name="Text 11"/>
          <p:cNvSpPr txBox="1"/>
          <p:nvPr/>
        </p:nvSpPr>
        <p:spPr>
          <a:xfrm>
            <a:off x="4507992" y="3474720"/>
            <a:ext cx="3172968"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IMD alerts for the region; the yatra went on. About 61–64 dead.</a:t>
            </a:r>
            <a:endParaRPr lang="en-US" sz="1500" dirty="0"/>
          </a:p>
        </p:txBody>
      </p:sp>
      <p:sp>
        <p:nvSpPr>
          <p:cNvPr id="16" name="event-dot-3"/>
          <p:cNvSpPr/>
          <p:nvPr/>
        </p:nvSpPr>
        <p:spPr>
          <a:xfrm>
            <a:off x="9505188" y="1554480"/>
            <a:ext cx="822960" cy="822960"/>
          </a:xfrm>
          <a:prstGeom prst="ellipse">
            <a:avLst/>
          </a:prstGeom>
          <a:solidFill>
            <a:srgbClr val="C62828"/>
          </a:solidFill>
          <a:ln w="38100">
            <a:solidFill>
              <a:srgbClr val="FFFFFF"/>
            </a:solidFill>
            <a:prstDash val="solid"/>
          </a:ln>
        </p:spPr>
      </p:sp>
      <p:pic>
        <p:nvPicPr>
          <p:cNvPr id="17" name="Image 2" descr="Adhkuwari, Vaishno Devi">    </p:cNvPr>
          <p:cNvPicPr>
            <a:picLocks noChangeAspect="1"/>
          </p:cNvPicPr>
          <p:nvPr/>
        </p:nvPicPr>
        <p:blipFill>
          <a:blip r:embed="rId3"/>
          <a:stretch>
            <a:fillRect/>
          </a:stretch>
        </p:blipFill>
        <p:spPr>
          <a:xfrm>
            <a:off x="9688068" y="1737360"/>
            <a:ext cx="457200" cy="457200"/>
          </a:xfrm>
          <a:prstGeom prst="rect">
            <a:avLst/>
          </a:prstGeom>
        </p:spPr>
      </p:pic>
      <p:sp>
        <p:nvSpPr>
          <p:cNvPr id="18" name="event-card-3"/>
          <p:cNvSpPr/>
          <p:nvPr/>
        </p:nvSpPr>
        <p:spPr>
          <a:xfrm>
            <a:off x="8101584" y="2606040"/>
            <a:ext cx="3630168" cy="1828800"/>
          </a:xfrm>
          <a:prstGeom prst="roundRect">
            <a:avLst>
              <a:gd name="adj" fmla="val 4000"/>
            </a:avLst>
          </a:prstGeom>
          <a:solidFill>
            <a:srgbClr val="F1F4F8"/>
          </a:solidFill>
          <a:ln w="12700">
            <a:solidFill>
              <a:srgbClr val="F1F4F8"/>
            </a:solidFill>
            <a:prstDash val="solid"/>
          </a:ln>
        </p:spPr>
      </p:sp>
      <p:sp>
        <p:nvSpPr>
          <p:cNvPr id="19" name="Text 14"/>
          <p:cNvSpPr txBox="1"/>
          <p:nvPr/>
        </p:nvSpPr>
        <p:spPr>
          <a:xfrm>
            <a:off x="8330184" y="2743200"/>
            <a:ext cx="3172968" cy="365760"/>
          </a:xfrm>
          <a:prstGeom prst="rect">
            <a:avLst/>
          </a:prstGeom>
          <a:noFill/>
          <a:ln/>
        </p:spPr>
        <p:txBody>
          <a:bodyPr wrap="square" lIns="0" tIns="0" rIns="0" bIns="0" rtlCol="0" anchor="t"/>
          <a:lstStyle/>
          <a:p>
            <a:pPr indent="0" marL="0">
              <a:buNone/>
            </a:pPr>
            <a:r>
              <a:rPr lang="en-US" sz="2000" b="1" dirty="0">
                <a:solidFill>
                  <a:srgbClr val="C62828"/>
                </a:solidFill>
                <a:latin typeface="Calibri" pitchFamily="34" charset="0"/>
                <a:ea typeface="Calibri" pitchFamily="34" charset="-122"/>
                <a:cs typeface="Calibri" pitchFamily="34" charset="-120"/>
              </a:rPr>
              <a:t>26 Aug 2025</a:t>
            </a:r>
            <a:endParaRPr lang="en-US" sz="2000" dirty="0"/>
          </a:p>
        </p:txBody>
      </p:sp>
      <p:sp>
        <p:nvSpPr>
          <p:cNvPr id="20" name="Text 15"/>
          <p:cNvSpPr txBox="1"/>
          <p:nvPr/>
        </p:nvSpPr>
        <p:spPr>
          <a:xfrm>
            <a:off x="8330184" y="3108960"/>
            <a:ext cx="3172968" cy="32004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Adhkuwari, Vaishno Devi</a:t>
            </a:r>
            <a:endParaRPr lang="en-US" sz="1600" dirty="0"/>
          </a:p>
        </p:txBody>
      </p:sp>
      <p:sp>
        <p:nvSpPr>
          <p:cNvPr id="21" name="Text 16"/>
          <p:cNvSpPr txBox="1"/>
          <p:nvPr/>
        </p:nvSpPr>
        <p:spPr>
          <a:xfrm>
            <a:off x="8330184" y="3474720"/>
            <a:ext cx="3172968"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Landslide at 14:40; at least 34 dead. Board: old track closed by ~12:00.</a:t>
            </a:r>
            <a:endParaRPr lang="en-US" sz="1500" dirty="0"/>
          </a:p>
        </p:txBody>
      </p:sp>
      <p:sp>
        <p:nvSpPr>
          <p:cNvPr id="22" name="Text 17"/>
          <p:cNvSpPr txBox="1"/>
          <p:nvPr/>
        </p:nvSpPr>
        <p:spPr>
          <a:xfrm>
            <a:off x="457200" y="4754880"/>
            <a:ext cx="11274552" cy="685800"/>
          </a:xfrm>
          <a:prstGeom prst="rect">
            <a:avLst/>
          </a:prstGeom>
          <a:noFill/>
          <a:ln/>
        </p:spPr>
        <p:txBody>
          <a:bodyPr wrap="square" lIns="0" tIns="0" rIns="0" bIns="0" rtlCol="0" anchor="t"/>
          <a:lstStyle/>
          <a:p>
            <a:pPr indent="0" marL="0">
              <a:buNone/>
            </a:pPr>
            <a:r>
              <a:rPr lang="en-US" sz="1800" b="1" dirty="0">
                <a:solidFill>
                  <a:srgbClr val="13294B"/>
                </a:solidFill>
                <a:latin typeface="Calibri" pitchFamily="34" charset="0"/>
                <a:ea typeface="Calibri" pitchFamily="34" charset="-122"/>
                <a:cs typeface="Calibri" pitchFamily="34" charset="-120"/>
              </a:rPr>
              <a:t>Each time, a warning reached some official. </a:t>
            </a:r>
            <a:pPr indent="0" marL="0">
              <a:buNone/>
            </a:pPr>
            <a:r>
              <a:rPr lang="en-US" sz="1800" dirty="0">
                <a:solidFill>
                  <a:srgbClr val="1F2937"/>
                </a:solidFill>
                <a:latin typeface="Calibri" pitchFamily="34" charset="0"/>
                <a:ea typeface="Calibri" pitchFamily="34" charset="-122"/>
                <a:cs typeface="Calibri" pitchFamily="34" charset="-120"/>
              </a:rPr>
              <a:t>Nobody turned it into “close this stretch, move these people, now” — and nobody can show who decided.</a:t>
            </a:r>
            <a:endParaRPr lang="en-US" sz="1800" dirty="0"/>
          </a:p>
        </p:txBody>
      </p:sp>
      <p:sp>
        <p:nvSpPr>
          <p:cNvPr id="23" name="Text 18"/>
          <p:cNvSpPr txBox="1"/>
          <p:nvPr/>
        </p:nvSpPr>
        <p:spPr>
          <a:xfrm>
            <a:off x="457200" y="5715000"/>
            <a:ext cx="11274552" cy="27432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Sources: Onmanorama, MoES (2022); ETV Bharat (2025); The Tribune (2025). Links in docs/research.md.</a:t>
            </a:r>
            <a:endParaRPr lang="en-US" sz="1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Who is affected, and where the gap is</a:t>
            </a:r>
            <a:endParaRPr lang="en-US" sz="3000" dirty="0"/>
          </a:p>
        </p:txBody>
      </p:sp>
      <p:sp>
        <p:nvSpPr>
          <p:cNvPr id="3" name="system-1"/>
          <p:cNvSpPr/>
          <p:nvPr/>
        </p:nvSpPr>
        <p:spPr>
          <a:xfrm>
            <a:off x="457200" y="1280160"/>
            <a:ext cx="2606040" cy="1783080"/>
          </a:xfrm>
          <a:prstGeom prst="roundRect">
            <a:avLst>
              <a:gd name="adj" fmla="val 4103"/>
            </a:avLst>
          </a:prstGeom>
          <a:solidFill>
            <a:srgbClr val="F1F4F8"/>
          </a:solidFill>
          <a:ln w="12700">
            <a:solidFill>
              <a:srgbClr val="F1F4F8"/>
            </a:solidFill>
            <a:prstDash val="solid"/>
          </a:ln>
        </p:spPr>
      </p:sp>
      <p:pic>
        <p:nvPicPr>
          <p:cNvPr id="4" name="Image 0" descr="IMD / GSI forecasts">    </p:cNvPr>
          <p:cNvPicPr>
            <a:picLocks noChangeAspect="1"/>
          </p:cNvPicPr>
          <p:nvPr/>
        </p:nvPicPr>
        <p:blipFill>
          <a:blip r:embed="rId1"/>
          <a:stretch>
            <a:fillRect/>
          </a:stretch>
        </p:blipFill>
        <p:spPr>
          <a:xfrm>
            <a:off x="685800" y="1463040"/>
            <a:ext cx="411480" cy="411480"/>
          </a:xfrm>
          <a:prstGeom prst="rect">
            <a:avLst/>
          </a:prstGeom>
        </p:spPr>
      </p:pic>
      <p:sp>
        <p:nvSpPr>
          <p:cNvPr id="5" name="Text 2"/>
          <p:cNvSpPr txBox="1"/>
          <p:nvPr/>
        </p:nvSpPr>
        <p:spPr>
          <a:xfrm>
            <a:off x="685800" y="1965960"/>
            <a:ext cx="2148840" cy="45720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IMD / GSI forecasts</a:t>
            </a:r>
            <a:endParaRPr lang="en-US" sz="1600" dirty="0"/>
          </a:p>
        </p:txBody>
      </p:sp>
      <p:sp>
        <p:nvSpPr>
          <p:cNvPr id="6" name="Text 3"/>
          <p:cNvSpPr txBox="1"/>
          <p:nvPr/>
        </p:nvSpPr>
        <p:spPr>
          <a:xfrm>
            <a:off x="685800" y="2468880"/>
            <a:ext cx="2148840" cy="502920"/>
          </a:xfrm>
          <a:prstGeom prst="rect">
            <a:avLst/>
          </a:prstGeom>
          <a:noFill/>
          <a:ln/>
        </p:spPr>
        <p:txBody>
          <a:bodyPr wrap="square" lIns="0" tIns="0" rIns="0" bIns="0" rtlCol="0" anchor="t"/>
          <a:lstStyle/>
          <a:p>
            <a:pPr indent="0" marL="0">
              <a:buNone/>
            </a:pPr>
            <a:r>
              <a:rPr lang="en-US" sz="1400" dirty="0">
                <a:solidFill>
                  <a:srgbClr val="C62828"/>
                </a:solidFill>
                <a:latin typeface="Calibri" pitchFamily="34" charset="0"/>
                <a:ea typeface="Calibri" pitchFamily="34" charset="-122"/>
                <a:cs typeface="Calibri" pitchFamily="34" charset="-120"/>
              </a:rPr>
              <a:t>District scale</a:t>
            </a:r>
            <a:endParaRPr lang="en-US" sz="1400" dirty="0"/>
          </a:p>
        </p:txBody>
      </p:sp>
      <p:sp>
        <p:nvSpPr>
          <p:cNvPr id="7" name="system-2"/>
          <p:cNvSpPr/>
          <p:nvPr/>
        </p:nvSpPr>
        <p:spPr>
          <a:xfrm>
            <a:off x="3346704" y="1280160"/>
            <a:ext cx="2606040" cy="1783080"/>
          </a:xfrm>
          <a:prstGeom prst="roundRect">
            <a:avLst>
              <a:gd name="adj" fmla="val 4103"/>
            </a:avLst>
          </a:prstGeom>
          <a:solidFill>
            <a:srgbClr val="F1F4F8"/>
          </a:solidFill>
          <a:ln w="12700">
            <a:solidFill>
              <a:srgbClr val="F1F4F8"/>
            </a:solidFill>
            <a:prstDash val="solid"/>
          </a:ln>
        </p:spPr>
      </p:sp>
      <p:pic>
        <p:nvPicPr>
          <p:cNvPr id="8" name="Image 1" descr="RFID / CCTV crowd">    </p:cNvPr>
          <p:cNvPicPr>
            <a:picLocks noChangeAspect="1"/>
          </p:cNvPicPr>
          <p:nvPr/>
        </p:nvPicPr>
        <p:blipFill>
          <a:blip r:embed="rId2"/>
          <a:stretch>
            <a:fillRect/>
          </a:stretch>
        </p:blipFill>
        <p:spPr>
          <a:xfrm>
            <a:off x="3575304" y="1463040"/>
            <a:ext cx="411480" cy="411480"/>
          </a:xfrm>
          <a:prstGeom prst="rect">
            <a:avLst/>
          </a:prstGeom>
        </p:spPr>
      </p:pic>
      <p:sp>
        <p:nvSpPr>
          <p:cNvPr id="9" name="Text 5"/>
          <p:cNvSpPr txBox="1"/>
          <p:nvPr/>
        </p:nvSpPr>
        <p:spPr>
          <a:xfrm>
            <a:off x="3575304" y="1965960"/>
            <a:ext cx="2148840" cy="45720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RFID / CCTV crowd</a:t>
            </a:r>
            <a:endParaRPr lang="en-US" sz="1600" dirty="0"/>
          </a:p>
        </p:txBody>
      </p:sp>
      <p:sp>
        <p:nvSpPr>
          <p:cNvPr id="10" name="Text 6"/>
          <p:cNvSpPr txBox="1"/>
          <p:nvPr/>
        </p:nvSpPr>
        <p:spPr>
          <a:xfrm>
            <a:off x="3575304" y="2468880"/>
            <a:ext cx="2148840" cy="502920"/>
          </a:xfrm>
          <a:prstGeom prst="rect">
            <a:avLst/>
          </a:prstGeom>
          <a:noFill/>
          <a:ln/>
        </p:spPr>
        <p:txBody>
          <a:bodyPr wrap="square" lIns="0" tIns="0" rIns="0" bIns="0" rtlCol="0" anchor="t"/>
          <a:lstStyle/>
          <a:p>
            <a:pPr indent="0" marL="0">
              <a:buNone/>
            </a:pPr>
            <a:r>
              <a:rPr lang="en-US" sz="1400" dirty="0">
                <a:solidFill>
                  <a:srgbClr val="C62828"/>
                </a:solidFill>
                <a:latin typeface="Calibri" pitchFamily="34" charset="0"/>
                <a:ea typeface="Calibri" pitchFamily="34" charset="-122"/>
                <a:cs typeface="Calibri" pitchFamily="34" charset="-120"/>
              </a:rPr>
              <a:t>No hazard input</a:t>
            </a:r>
            <a:endParaRPr lang="en-US" sz="1400" dirty="0"/>
          </a:p>
        </p:txBody>
      </p:sp>
      <p:sp>
        <p:nvSpPr>
          <p:cNvPr id="11" name="system-3"/>
          <p:cNvSpPr/>
          <p:nvPr/>
        </p:nvSpPr>
        <p:spPr>
          <a:xfrm>
            <a:off x="6236208" y="1280160"/>
            <a:ext cx="2606040" cy="1783080"/>
          </a:xfrm>
          <a:prstGeom prst="roundRect">
            <a:avLst>
              <a:gd name="adj" fmla="val 4103"/>
            </a:avLst>
          </a:prstGeom>
          <a:solidFill>
            <a:srgbClr val="F1F4F8"/>
          </a:solidFill>
          <a:ln w="12700">
            <a:solidFill>
              <a:srgbClr val="F1F4F8"/>
            </a:solidFill>
            <a:prstDash val="solid"/>
          </a:ln>
        </p:spPr>
      </p:sp>
      <p:pic>
        <p:nvPicPr>
          <p:cNvPr id="12" name="Image 2" descr="SACHET mass alerts">    </p:cNvPr>
          <p:cNvPicPr>
            <a:picLocks noChangeAspect="1"/>
          </p:cNvPicPr>
          <p:nvPr/>
        </p:nvPicPr>
        <p:blipFill>
          <a:blip r:embed="rId3"/>
          <a:stretch>
            <a:fillRect/>
          </a:stretch>
        </p:blipFill>
        <p:spPr>
          <a:xfrm>
            <a:off x="6464808" y="1463040"/>
            <a:ext cx="411480" cy="411480"/>
          </a:xfrm>
          <a:prstGeom prst="rect">
            <a:avLst/>
          </a:prstGeom>
        </p:spPr>
      </p:pic>
      <p:sp>
        <p:nvSpPr>
          <p:cNvPr id="13" name="Text 8"/>
          <p:cNvSpPr txBox="1"/>
          <p:nvPr/>
        </p:nvSpPr>
        <p:spPr>
          <a:xfrm>
            <a:off x="6464808" y="1965960"/>
            <a:ext cx="2148840" cy="45720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SACHET mass alerts</a:t>
            </a:r>
            <a:endParaRPr lang="en-US" sz="1600" dirty="0"/>
          </a:p>
        </p:txBody>
      </p:sp>
      <p:sp>
        <p:nvSpPr>
          <p:cNvPr id="14" name="Text 9"/>
          <p:cNvSpPr txBox="1"/>
          <p:nvPr/>
        </p:nvSpPr>
        <p:spPr>
          <a:xfrm>
            <a:off x="6464808" y="2468880"/>
            <a:ext cx="2148840" cy="502920"/>
          </a:xfrm>
          <a:prstGeom prst="rect">
            <a:avLst/>
          </a:prstGeom>
          <a:noFill/>
          <a:ln/>
        </p:spPr>
        <p:txBody>
          <a:bodyPr wrap="square" lIns="0" tIns="0" rIns="0" bIns="0" rtlCol="0" anchor="t"/>
          <a:lstStyle/>
          <a:p>
            <a:pPr indent="0" marL="0">
              <a:buNone/>
            </a:pPr>
            <a:r>
              <a:rPr lang="en-US" sz="1400" dirty="0">
                <a:solidFill>
                  <a:srgbClr val="C62828"/>
                </a:solidFill>
                <a:latin typeface="Calibri" pitchFamily="34" charset="0"/>
                <a:ea typeface="Calibri" pitchFamily="34" charset="-122"/>
                <a:cs typeface="Calibri" pitchFamily="34" charset="-120"/>
              </a:rPr>
              <a:t>Areas, not people in transit</a:t>
            </a:r>
            <a:endParaRPr lang="en-US" sz="1400" dirty="0"/>
          </a:p>
        </p:txBody>
      </p:sp>
      <p:sp>
        <p:nvSpPr>
          <p:cNvPr id="15" name="system-4"/>
          <p:cNvSpPr/>
          <p:nvPr/>
        </p:nvSpPr>
        <p:spPr>
          <a:xfrm>
            <a:off x="9125712" y="1280160"/>
            <a:ext cx="2606040" cy="1783080"/>
          </a:xfrm>
          <a:prstGeom prst="roundRect">
            <a:avLst>
              <a:gd name="adj" fmla="val 4103"/>
            </a:avLst>
          </a:prstGeom>
          <a:solidFill>
            <a:srgbClr val="F1F4F8"/>
          </a:solidFill>
          <a:ln w="12700">
            <a:solidFill>
              <a:srgbClr val="F1F4F8"/>
            </a:solidFill>
            <a:prstDash val="solid"/>
          </a:ln>
        </p:spPr>
      </p:sp>
      <p:pic>
        <p:nvPicPr>
          <p:cNvPr id="16" name="Image 3" descr="Shrine-board control room">    </p:cNvPr>
          <p:cNvPicPr>
            <a:picLocks noChangeAspect="1"/>
          </p:cNvPicPr>
          <p:nvPr/>
        </p:nvPicPr>
        <p:blipFill>
          <a:blip r:embed="rId4"/>
          <a:stretch>
            <a:fillRect/>
          </a:stretch>
        </p:blipFill>
        <p:spPr>
          <a:xfrm>
            <a:off x="9354312" y="1463040"/>
            <a:ext cx="411480" cy="411480"/>
          </a:xfrm>
          <a:prstGeom prst="rect">
            <a:avLst/>
          </a:prstGeom>
        </p:spPr>
      </p:pic>
      <p:sp>
        <p:nvSpPr>
          <p:cNvPr id="17" name="Text 11"/>
          <p:cNvSpPr txBox="1"/>
          <p:nvPr/>
        </p:nvSpPr>
        <p:spPr>
          <a:xfrm>
            <a:off x="9354312" y="1965960"/>
            <a:ext cx="2148840" cy="457200"/>
          </a:xfrm>
          <a:prstGeom prst="rect">
            <a:avLst/>
          </a:prstGeom>
          <a:noFill/>
          <a:ln/>
        </p:spPr>
        <p:txBody>
          <a:bodyPr wrap="square" lIns="0" tIns="0" rIns="0" bIns="0" rtlCol="0" anchor="t"/>
          <a:lstStyle/>
          <a:p>
            <a:pPr indent="0" marL="0">
              <a:buNone/>
            </a:pPr>
            <a:r>
              <a:rPr lang="en-US" sz="1600" b="1" dirty="0">
                <a:solidFill>
                  <a:srgbClr val="13294B"/>
                </a:solidFill>
                <a:latin typeface="Calibri" pitchFamily="34" charset="0"/>
                <a:ea typeface="Calibri" pitchFamily="34" charset="-122"/>
                <a:cs typeface="Calibri" pitchFamily="34" charset="-120"/>
              </a:rPr>
              <a:t>Shrine-board control room</a:t>
            </a:r>
            <a:endParaRPr lang="en-US" sz="1600" dirty="0"/>
          </a:p>
        </p:txBody>
      </p:sp>
      <p:sp>
        <p:nvSpPr>
          <p:cNvPr id="18" name="Text 12"/>
          <p:cNvSpPr txBox="1"/>
          <p:nvPr/>
        </p:nvSpPr>
        <p:spPr>
          <a:xfrm>
            <a:off x="9354312" y="2468880"/>
            <a:ext cx="2148840" cy="502920"/>
          </a:xfrm>
          <a:prstGeom prst="rect">
            <a:avLst/>
          </a:prstGeom>
          <a:noFill/>
          <a:ln/>
        </p:spPr>
        <p:txBody>
          <a:bodyPr wrap="square" lIns="0" tIns="0" rIns="0" bIns="0" rtlCol="0" anchor="t"/>
          <a:lstStyle/>
          <a:p>
            <a:pPr indent="0" marL="0">
              <a:buNone/>
            </a:pPr>
            <a:r>
              <a:rPr lang="en-US" sz="1400" dirty="0">
                <a:solidFill>
                  <a:srgbClr val="C62828"/>
                </a:solidFill>
                <a:latin typeface="Calibri" pitchFamily="34" charset="0"/>
                <a:ea typeface="Calibri" pitchFamily="34" charset="-122"/>
                <a:cs typeface="Calibri" pitchFamily="34" charset="-120"/>
              </a:rPr>
              <a:t>No record of who approved what</a:t>
            </a:r>
            <a:endParaRPr lang="en-US" sz="1400" dirty="0"/>
          </a:p>
        </p:txBody>
      </p:sp>
      <p:sp>
        <p:nvSpPr>
          <p:cNvPr id="19" name="district-alert"/>
          <p:cNvSpPr/>
          <p:nvPr/>
        </p:nvSpPr>
        <p:spPr>
          <a:xfrm>
            <a:off x="457200" y="3429000"/>
            <a:ext cx="3108960" cy="777240"/>
          </a:xfrm>
          <a:prstGeom prst="roundRect">
            <a:avLst>
              <a:gd name="adj" fmla="val 9412"/>
            </a:avLst>
          </a:prstGeom>
          <a:solidFill>
            <a:srgbClr val="13294B"/>
          </a:solidFill>
          <a:ln w="12700">
            <a:solidFill>
              <a:srgbClr val="13294B"/>
            </a:solidFill>
            <a:prstDash val="solid"/>
          </a:ln>
        </p:spPr>
      </p:sp>
      <p:sp>
        <p:nvSpPr>
          <p:cNvPr id="20" name="Text 14"/>
          <p:cNvSpPr txBox="1"/>
          <p:nvPr/>
        </p:nvSpPr>
        <p:spPr>
          <a:xfrm>
            <a:off x="457200" y="3429000"/>
            <a:ext cx="310896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District alert</a:t>
            </a:r>
            <a:endParaRPr lang="en-US" sz="1800" dirty="0"/>
          </a:p>
        </p:txBody>
      </p:sp>
      <p:sp>
        <p:nvSpPr>
          <p:cNvPr id="21" name="pilgrim-on-segment"/>
          <p:cNvSpPr/>
          <p:nvPr/>
        </p:nvSpPr>
        <p:spPr>
          <a:xfrm>
            <a:off x="8622792" y="3429000"/>
            <a:ext cx="3108960" cy="777240"/>
          </a:xfrm>
          <a:prstGeom prst="roundRect">
            <a:avLst>
              <a:gd name="adj" fmla="val 9412"/>
            </a:avLst>
          </a:prstGeom>
          <a:solidFill>
            <a:srgbClr val="13294B"/>
          </a:solidFill>
          <a:ln w="12700">
            <a:solidFill>
              <a:srgbClr val="13294B"/>
            </a:solidFill>
            <a:prstDash val="solid"/>
          </a:ln>
        </p:spPr>
      </p:sp>
      <p:sp>
        <p:nvSpPr>
          <p:cNvPr id="22" name="Text 16"/>
          <p:cNvSpPr txBox="1"/>
          <p:nvPr/>
        </p:nvSpPr>
        <p:spPr>
          <a:xfrm>
            <a:off x="8622792" y="3429000"/>
            <a:ext cx="310896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Pilgrim on segment X</a:t>
            </a:r>
            <a:endParaRPr lang="en-US" sz="1800" dirty="0"/>
          </a:p>
        </p:txBody>
      </p:sp>
      <p:sp>
        <p:nvSpPr>
          <p:cNvPr id="23" name="gap"/>
          <p:cNvSpPr/>
          <p:nvPr/>
        </p:nvSpPr>
        <p:spPr>
          <a:xfrm>
            <a:off x="3840480" y="3429000"/>
            <a:ext cx="4507992" cy="777240"/>
          </a:xfrm>
          <a:prstGeom prst="roundRect">
            <a:avLst>
              <a:gd name="adj" fmla="val 9412"/>
            </a:avLst>
          </a:prstGeom>
          <a:solidFill>
            <a:srgbClr val="FDECEC"/>
          </a:solidFill>
          <a:ln w="25400">
            <a:solidFill>
              <a:srgbClr val="C62828"/>
            </a:solidFill>
            <a:prstDash val="dash"/>
          </a:ln>
        </p:spPr>
      </p:sp>
      <p:sp>
        <p:nvSpPr>
          <p:cNvPr id="24" name="Text 18"/>
          <p:cNvSpPr txBox="1"/>
          <p:nvPr/>
        </p:nvSpPr>
        <p:spPr>
          <a:xfrm>
            <a:off x="3840480" y="3429000"/>
            <a:ext cx="4507992" cy="777240"/>
          </a:xfrm>
          <a:prstGeom prst="rect">
            <a:avLst/>
          </a:prstGeom>
          <a:noFill/>
          <a:ln/>
        </p:spPr>
        <p:txBody>
          <a:bodyPr wrap="square" lIns="0" tIns="0" rIns="0" bIns="0" rtlCol="0" anchor="ctr"/>
          <a:lstStyle/>
          <a:p>
            <a:pPr algn="ctr" indent="0" marL="0">
              <a:buNone/>
            </a:pPr>
            <a:r>
              <a:rPr lang="en-US" sz="1700" b="1" dirty="0">
                <a:solidFill>
                  <a:srgbClr val="C62828"/>
                </a:solidFill>
                <a:latin typeface="Calibri" pitchFamily="34" charset="0"/>
                <a:ea typeface="Calibri" pitchFamily="34" charset="-122"/>
                <a:cs typeface="Calibri" pitchFamily="34" charset="-120"/>
              </a:rPr>
              <a:t>GAP: nobody owns “close this 500 m now”</a:t>
            </a:r>
            <a:endParaRPr lang="en-US" sz="1700" dirty="0"/>
          </a:p>
        </p:txBody>
      </p:sp>
      <p:pic>
        <p:nvPicPr>
          <p:cNvPr id="25" name="Image 4" descr="Beneficiaries">    </p:cNvPr>
          <p:cNvPicPr>
            <a:picLocks noChangeAspect="1"/>
          </p:cNvPicPr>
          <p:nvPr/>
        </p:nvPicPr>
        <p:blipFill>
          <a:blip r:embed="rId5"/>
          <a:stretch>
            <a:fillRect/>
          </a:stretch>
        </p:blipFill>
        <p:spPr>
          <a:xfrm>
            <a:off x="457200" y="4617720"/>
            <a:ext cx="457200" cy="457200"/>
          </a:xfrm>
          <a:prstGeom prst="rect">
            <a:avLst/>
          </a:prstGeom>
        </p:spPr>
      </p:pic>
      <p:sp>
        <p:nvSpPr>
          <p:cNvPr id="26" name="Text 19"/>
          <p:cNvSpPr txBox="1"/>
          <p:nvPr/>
        </p:nvSpPr>
        <p:spPr>
          <a:xfrm>
            <a:off x="1097280" y="4572000"/>
            <a:ext cx="10634472" cy="822960"/>
          </a:xfrm>
          <a:prstGeom prst="rect">
            <a:avLst/>
          </a:prstGeom>
          <a:noFill/>
          <a:ln/>
        </p:spPr>
        <p:txBody>
          <a:bodyPr wrap="square" lIns="0" tIns="0" rIns="0" bIns="0" rtlCol="0" anchor="t"/>
          <a:lstStyle/>
          <a:p>
            <a:pPr indent="0" marL="0">
              <a:buNone/>
            </a:pPr>
            <a:r>
              <a:rPr lang="en-US" sz="1700" b="1" dirty="0">
                <a:solidFill>
                  <a:srgbClr val="13294B"/>
                </a:solidFill>
                <a:latin typeface="Calibri" pitchFamily="34" charset="0"/>
                <a:ea typeface="Calibri" pitchFamily="34" charset="-122"/>
                <a:cs typeface="Calibri" pitchFamily="34" charset="-120"/>
              </a:rPr>
              <a:t>Who it protects: </a:t>
            </a:r>
            <a:pPr indent="0" marL="0">
              <a:buNone/>
            </a:pPr>
            <a:r>
              <a:rPr lang="en-US" sz="1700" dirty="0">
                <a:solidFill>
                  <a:srgbClr val="1F2937"/>
                </a:solidFill>
                <a:latin typeface="Calibri" pitchFamily="34" charset="0"/>
                <a:ea typeface="Calibri" pitchFamily="34" charset="-122"/>
                <a:cs typeface="Calibri" pitchFamily="34" charset="-120"/>
              </a:rPr>
              <a:t>pilgrims on mountain tracks (Vaishno Devi cap: 50,000 a day), pony and palki operators, shopkeepers on the track, SDRF and police on duty.</a:t>
            </a:r>
            <a:endParaRPr lang="en-US" sz="1700" dirty="0"/>
          </a:p>
        </p:txBody>
      </p:sp>
      <p:sp>
        <p:nvSpPr>
          <p:cNvPr id="27" name="Text 20"/>
          <p:cNvSpPr txBox="1"/>
          <p:nvPr/>
        </p:nvSpPr>
        <p:spPr>
          <a:xfrm>
            <a:off x="457200" y="5760720"/>
            <a:ext cx="11274552" cy="45720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Sources: The Tribune (SMVDSB RFID, 700+ CCTV, 50,000/day cap); ETV Bharat (SACHET); Business Standard, MoES (GSI bulletins). Gap: team inference from these. Links in docs/research.md.</a:t>
            </a:r>
            <a:endParaRPr lang="en-US" sz="1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YatraKavach: risk per 500 m, decided by a named officer</a:t>
            </a:r>
            <a:endParaRPr lang="en-US" sz="3000" dirty="0"/>
          </a:p>
        </p:txBody>
      </p:sp>
      <p:sp>
        <p:nvSpPr>
          <p:cNvPr id="3" name="flow-1"/>
          <p:cNvSpPr/>
          <p:nvPr/>
        </p:nvSpPr>
        <p:spPr>
          <a:xfrm>
            <a:off x="457200" y="1325880"/>
            <a:ext cx="1865376" cy="914400"/>
          </a:xfrm>
          <a:prstGeom prst="homePlate">
            <a:avLst/>
          </a:prstGeom>
          <a:solidFill>
            <a:srgbClr val="13294B"/>
          </a:solidFill>
          <a:ln w="12700">
            <a:solidFill>
              <a:srgbClr val="FFFFFF"/>
            </a:solidFill>
            <a:prstDash val="solid"/>
          </a:ln>
        </p:spPr>
      </p:sp>
      <p:sp>
        <p:nvSpPr>
          <p:cNvPr id="4" name="Text 2"/>
          <p:cNvSpPr txBox="1"/>
          <p:nvPr/>
        </p:nvSpPr>
        <p:spPr>
          <a:xfrm>
            <a:off x="548640" y="1325880"/>
            <a:ext cx="1389888"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Rain + slope</a:t>
            </a:r>
            <a:endParaRPr lang="en-US" sz="1400" dirty="0"/>
          </a:p>
        </p:txBody>
      </p:sp>
      <p:sp>
        <p:nvSpPr>
          <p:cNvPr id="5" name="flow-2"/>
          <p:cNvSpPr/>
          <p:nvPr/>
        </p:nvSpPr>
        <p:spPr>
          <a:xfrm>
            <a:off x="2362810" y="1325880"/>
            <a:ext cx="1865376" cy="914400"/>
          </a:xfrm>
          <a:prstGeom prst="chevron">
            <a:avLst/>
          </a:prstGeom>
          <a:solidFill>
            <a:srgbClr val="13294B"/>
          </a:solidFill>
          <a:ln w="12700">
            <a:solidFill>
              <a:srgbClr val="FFFFFF"/>
            </a:solidFill>
            <a:prstDash val="solid"/>
          </a:ln>
        </p:spPr>
      </p:sp>
      <p:sp>
        <p:nvSpPr>
          <p:cNvPr id="6" name="Text 4"/>
          <p:cNvSpPr txBox="1"/>
          <p:nvPr/>
        </p:nvSpPr>
        <p:spPr>
          <a:xfrm>
            <a:off x="2820010" y="1325880"/>
            <a:ext cx="1207008"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Segment hazard</a:t>
            </a:r>
            <a:endParaRPr lang="en-US" sz="1400" dirty="0"/>
          </a:p>
        </p:txBody>
      </p:sp>
      <p:sp>
        <p:nvSpPr>
          <p:cNvPr id="7" name="flow-3"/>
          <p:cNvSpPr/>
          <p:nvPr/>
        </p:nvSpPr>
        <p:spPr>
          <a:xfrm>
            <a:off x="4268419" y="1325880"/>
            <a:ext cx="1865376" cy="914400"/>
          </a:xfrm>
          <a:prstGeom prst="chevron">
            <a:avLst/>
          </a:prstGeom>
          <a:solidFill>
            <a:srgbClr val="13294B"/>
          </a:solidFill>
          <a:ln w="12700">
            <a:solidFill>
              <a:srgbClr val="FFFFFF"/>
            </a:solidFill>
            <a:prstDash val="solid"/>
          </a:ln>
        </p:spPr>
      </p:sp>
      <p:sp>
        <p:nvSpPr>
          <p:cNvPr id="8" name="Text 6"/>
          <p:cNvSpPr txBox="1"/>
          <p:nvPr/>
        </p:nvSpPr>
        <p:spPr>
          <a:xfrm>
            <a:off x="4725619" y="1325880"/>
            <a:ext cx="1207008"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people on segment</a:t>
            </a:r>
            <a:endParaRPr lang="en-US" sz="1400" dirty="0"/>
          </a:p>
        </p:txBody>
      </p:sp>
      <p:sp>
        <p:nvSpPr>
          <p:cNvPr id="9" name="flow-4"/>
          <p:cNvSpPr/>
          <p:nvPr/>
        </p:nvSpPr>
        <p:spPr>
          <a:xfrm>
            <a:off x="6174029" y="1325880"/>
            <a:ext cx="1865376" cy="914400"/>
          </a:xfrm>
          <a:prstGeom prst="chevron">
            <a:avLst/>
          </a:prstGeom>
          <a:solidFill>
            <a:srgbClr val="13294B"/>
          </a:solidFill>
          <a:ln w="12700">
            <a:solidFill>
              <a:srgbClr val="FFFFFF"/>
            </a:solidFill>
            <a:prstDash val="solid"/>
          </a:ln>
        </p:spPr>
      </p:sp>
      <p:sp>
        <p:nvSpPr>
          <p:cNvPr id="10" name="Text 8"/>
          <p:cNvSpPr txBox="1"/>
          <p:nvPr/>
        </p:nvSpPr>
        <p:spPr>
          <a:xfrm>
            <a:off x="6631229" y="1325880"/>
            <a:ext cx="1207008"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Proposed action</a:t>
            </a:r>
            <a:endParaRPr lang="en-US" sz="1400" dirty="0"/>
          </a:p>
        </p:txBody>
      </p:sp>
      <p:sp>
        <p:nvSpPr>
          <p:cNvPr id="11" name="flow-5"/>
          <p:cNvSpPr/>
          <p:nvPr/>
        </p:nvSpPr>
        <p:spPr>
          <a:xfrm>
            <a:off x="8079638" y="1325880"/>
            <a:ext cx="1865376" cy="914400"/>
          </a:xfrm>
          <a:prstGeom prst="chevron">
            <a:avLst/>
          </a:prstGeom>
          <a:solidFill>
            <a:srgbClr val="C62828"/>
          </a:solidFill>
          <a:ln w="12700">
            <a:solidFill>
              <a:srgbClr val="FFFFFF"/>
            </a:solidFill>
            <a:prstDash val="solid"/>
          </a:ln>
        </p:spPr>
      </p:sp>
      <p:sp>
        <p:nvSpPr>
          <p:cNvPr id="12" name="Text 10"/>
          <p:cNvSpPr txBox="1"/>
          <p:nvPr/>
        </p:nvSpPr>
        <p:spPr>
          <a:xfrm>
            <a:off x="8536838" y="1325880"/>
            <a:ext cx="1207008"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Officer approves</a:t>
            </a:r>
            <a:endParaRPr lang="en-US" sz="1400" dirty="0"/>
          </a:p>
        </p:txBody>
      </p:sp>
      <p:sp>
        <p:nvSpPr>
          <p:cNvPr id="13" name="flow-6"/>
          <p:cNvSpPr/>
          <p:nvPr/>
        </p:nvSpPr>
        <p:spPr>
          <a:xfrm>
            <a:off x="9985248" y="1325880"/>
            <a:ext cx="1865376" cy="914400"/>
          </a:xfrm>
          <a:prstGeom prst="chevron">
            <a:avLst/>
          </a:prstGeom>
          <a:solidFill>
            <a:srgbClr val="C62828"/>
          </a:solidFill>
          <a:ln w="12700">
            <a:solidFill>
              <a:srgbClr val="FFFFFF"/>
            </a:solidFill>
            <a:prstDash val="solid"/>
          </a:ln>
        </p:spPr>
      </p:sp>
      <p:sp>
        <p:nvSpPr>
          <p:cNvPr id="14" name="Text 12"/>
          <p:cNvSpPr txBox="1"/>
          <p:nvPr/>
        </p:nvSpPr>
        <p:spPr>
          <a:xfrm>
            <a:off x="10442448" y="1325880"/>
            <a:ext cx="1207008"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CAP alert (en/hi/ur)</a:t>
            </a:r>
            <a:endParaRPr lang="en-US" sz="1400" dirty="0"/>
          </a:p>
        </p:txBody>
      </p:sp>
      <p:sp>
        <p:nvSpPr>
          <p:cNvPr id="15" name="feature-1"/>
          <p:cNvSpPr/>
          <p:nvPr/>
        </p:nvSpPr>
        <p:spPr>
          <a:xfrm>
            <a:off x="457200" y="2606040"/>
            <a:ext cx="3630168" cy="1965960"/>
          </a:xfrm>
          <a:prstGeom prst="roundRect">
            <a:avLst>
              <a:gd name="adj" fmla="val 3721"/>
            </a:avLst>
          </a:prstGeom>
          <a:solidFill>
            <a:srgbClr val="F1F4F8"/>
          </a:solidFill>
          <a:ln w="12700">
            <a:solidFill>
              <a:srgbClr val="F1F4F8"/>
            </a:solidFill>
            <a:prstDash val="solid"/>
          </a:ln>
        </p:spPr>
      </p:sp>
      <p:pic>
        <p:nvPicPr>
          <p:cNvPr id="16" name="Image 0" descr="Where">    </p:cNvPr>
          <p:cNvPicPr>
            <a:picLocks noChangeAspect="1"/>
          </p:cNvPicPr>
          <p:nvPr/>
        </p:nvPicPr>
        <p:blipFill>
          <a:blip r:embed="rId1"/>
          <a:stretch>
            <a:fillRect/>
          </a:stretch>
        </p:blipFill>
        <p:spPr>
          <a:xfrm>
            <a:off x="685800" y="2788920"/>
            <a:ext cx="411480" cy="411480"/>
          </a:xfrm>
          <a:prstGeom prst="rect">
            <a:avLst/>
          </a:prstGeom>
        </p:spPr>
      </p:pic>
      <p:sp>
        <p:nvSpPr>
          <p:cNvPr id="17" name="Text 14"/>
          <p:cNvSpPr txBox="1"/>
          <p:nvPr/>
        </p:nvSpPr>
        <p:spPr>
          <a:xfrm>
            <a:off x="1234440" y="2788920"/>
            <a:ext cx="1737360" cy="411480"/>
          </a:xfrm>
          <a:prstGeom prst="rect">
            <a:avLst/>
          </a:prstGeom>
          <a:noFill/>
          <a:ln/>
        </p:spPr>
        <p:txBody>
          <a:bodyPr wrap="square" lIns="0" tIns="0" rIns="0" bIns="0" rtlCol="0" anchor="ctr"/>
          <a:lstStyle/>
          <a:p>
            <a:pPr indent="0" marL="0">
              <a:buNone/>
            </a:pPr>
            <a:r>
              <a:rPr lang="en-US" sz="1800" b="1" dirty="0">
                <a:solidFill>
                  <a:srgbClr val="13294B"/>
                </a:solidFill>
                <a:latin typeface="Calibri" pitchFamily="34" charset="0"/>
                <a:ea typeface="Calibri" pitchFamily="34" charset="-122"/>
                <a:cs typeface="Calibri" pitchFamily="34" charset="-120"/>
              </a:rPr>
              <a:t>Where</a:t>
            </a:r>
            <a:endParaRPr lang="en-US" sz="1800" dirty="0"/>
          </a:p>
        </p:txBody>
      </p:sp>
      <p:sp>
        <p:nvSpPr>
          <p:cNvPr id="18" name="Text 15"/>
          <p:cNvSpPr txBox="1"/>
          <p:nvPr/>
        </p:nvSpPr>
        <p:spPr>
          <a:xfrm>
            <a:off x="685800" y="3383280"/>
            <a:ext cx="3172968" cy="10972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35 segments on the three Vaishno Devi tracks. Hazard every hour from published Himalayan rain thresholds.</a:t>
            </a:r>
            <a:endParaRPr lang="en-US" sz="1600" dirty="0"/>
          </a:p>
        </p:txBody>
      </p:sp>
      <p:sp>
        <p:nvSpPr>
          <p:cNvPr id="19" name="feature-2"/>
          <p:cNvSpPr/>
          <p:nvPr/>
        </p:nvSpPr>
        <p:spPr>
          <a:xfrm>
            <a:off x="4279392" y="2606040"/>
            <a:ext cx="3630168" cy="1965960"/>
          </a:xfrm>
          <a:prstGeom prst="roundRect">
            <a:avLst>
              <a:gd name="adj" fmla="val 3721"/>
            </a:avLst>
          </a:prstGeom>
          <a:solidFill>
            <a:srgbClr val="F1F4F8"/>
          </a:solidFill>
          <a:ln w="12700">
            <a:solidFill>
              <a:srgbClr val="F1F4F8"/>
            </a:solidFill>
            <a:prstDash val="solid"/>
          </a:ln>
        </p:spPr>
      </p:sp>
      <p:pic>
        <p:nvPicPr>
          <p:cNvPr id="20" name="Image 1" descr="Who is there">    </p:cNvPr>
          <p:cNvPicPr>
            <a:picLocks noChangeAspect="1"/>
          </p:cNvPicPr>
          <p:nvPr/>
        </p:nvPicPr>
        <p:blipFill>
          <a:blip r:embed="rId2"/>
          <a:stretch>
            <a:fillRect/>
          </a:stretch>
        </p:blipFill>
        <p:spPr>
          <a:xfrm>
            <a:off x="4507992" y="2788920"/>
            <a:ext cx="411480" cy="411480"/>
          </a:xfrm>
          <a:prstGeom prst="rect">
            <a:avLst/>
          </a:prstGeom>
        </p:spPr>
      </p:pic>
      <p:sp>
        <p:nvSpPr>
          <p:cNvPr id="21" name="Text 17"/>
          <p:cNvSpPr txBox="1"/>
          <p:nvPr/>
        </p:nvSpPr>
        <p:spPr>
          <a:xfrm>
            <a:off x="5056632" y="2788920"/>
            <a:ext cx="1737360" cy="411480"/>
          </a:xfrm>
          <a:prstGeom prst="rect">
            <a:avLst/>
          </a:prstGeom>
          <a:noFill/>
          <a:ln/>
        </p:spPr>
        <p:txBody>
          <a:bodyPr wrap="square" lIns="0" tIns="0" rIns="0" bIns="0" rtlCol="0" anchor="ctr"/>
          <a:lstStyle/>
          <a:p>
            <a:pPr indent="0" marL="0">
              <a:buNone/>
            </a:pPr>
            <a:r>
              <a:rPr lang="en-US" sz="1800" b="1" dirty="0">
                <a:solidFill>
                  <a:srgbClr val="13294B"/>
                </a:solidFill>
                <a:latin typeface="Calibri" pitchFamily="34" charset="0"/>
                <a:ea typeface="Calibri" pitchFamily="34" charset="-122"/>
                <a:cs typeface="Calibri" pitchFamily="34" charset="-120"/>
              </a:rPr>
              <a:t>Who is there</a:t>
            </a:r>
            <a:endParaRPr lang="en-US" sz="1800" dirty="0"/>
          </a:p>
        </p:txBody>
      </p:sp>
      <p:sp>
        <p:nvSpPr>
          <p:cNvPr id="22" name="Text 18"/>
          <p:cNvSpPr txBox="1"/>
          <p:nvPr/>
        </p:nvSpPr>
        <p:spPr>
          <a:xfrm>
            <a:off x="6720840" y="2880360"/>
            <a:ext cx="960120" cy="237744"/>
          </a:xfrm>
          <a:prstGeom prst="roundRect">
            <a:avLst>
              <a:gd name="adj" fmla="val 19231"/>
            </a:avLst>
          </a:prstGeom>
          <a:solidFill>
            <a:srgbClr val="6A1B9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SIMULATED</a:t>
            </a:r>
            <a:endParaRPr lang="en-US" sz="1000" dirty="0"/>
          </a:p>
        </p:txBody>
      </p:sp>
      <p:sp>
        <p:nvSpPr>
          <p:cNvPr id="23" name="Text 19"/>
          <p:cNvSpPr txBox="1"/>
          <p:nvPr/>
        </p:nvSpPr>
        <p:spPr>
          <a:xfrm>
            <a:off x="4507992" y="3383280"/>
            <a:ext cx="3172968" cy="10972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People per segment and the queue a hold creates. AI crowd count from a camera frame (DM-Count).</a:t>
            </a:r>
            <a:endParaRPr lang="en-US" sz="1600" dirty="0"/>
          </a:p>
        </p:txBody>
      </p:sp>
      <p:sp>
        <p:nvSpPr>
          <p:cNvPr id="24" name="feature-3"/>
          <p:cNvSpPr/>
          <p:nvPr/>
        </p:nvSpPr>
        <p:spPr>
          <a:xfrm>
            <a:off x="8101584" y="2606040"/>
            <a:ext cx="3630168" cy="1965960"/>
          </a:xfrm>
          <a:prstGeom prst="roundRect">
            <a:avLst>
              <a:gd name="adj" fmla="val 3721"/>
            </a:avLst>
          </a:prstGeom>
          <a:solidFill>
            <a:srgbClr val="F1F4F8"/>
          </a:solidFill>
          <a:ln w="12700">
            <a:solidFill>
              <a:srgbClr val="F1F4F8"/>
            </a:solidFill>
            <a:prstDash val="solid"/>
          </a:ln>
        </p:spPr>
      </p:sp>
      <p:pic>
        <p:nvPicPr>
          <p:cNvPr id="25" name="Image 2" descr="Who decides">    </p:cNvPr>
          <p:cNvPicPr>
            <a:picLocks noChangeAspect="1"/>
          </p:cNvPicPr>
          <p:nvPr/>
        </p:nvPicPr>
        <p:blipFill>
          <a:blip r:embed="rId3"/>
          <a:stretch>
            <a:fillRect/>
          </a:stretch>
        </p:blipFill>
        <p:spPr>
          <a:xfrm>
            <a:off x="8330184" y="2788920"/>
            <a:ext cx="411480" cy="411480"/>
          </a:xfrm>
          <a:prstGeom prst="rect">
            <a:avLst/>
          </a:prstGeom>
        </p:spPr>
      </p:pic>
      <p:sp>
        <p:nvSpPr>
          <p:cNvPr id="26" name="Text 21"/>
          <p:cNvSpPr txBox="1"/>
          <p:nvPr/>
        </p:nvSpPr>
        <p:spPr>
          <a:xfrm>
            <a:off x="8878824" y="2788920"/>
            <a:ext cx="1737360" cy="411480"/>
          </a:xfrm>
          <a:prstGeom prst="rect">
            <a:avLst/>
          </a:prstGeom>
          <a:noFill/>
          <a:ln/>
        </p:spPr>
        <p:txBody>
          <a:bodyPr wrap="square" lIns="0" tIns="0" rIns="0" bIns="0" rtlCol="0" anchor="ctr"/>
          <a:lstStyle/>
          <a:p>
            <a:pPr indent="0" marL="0">
              <a:buNone/>
            </a:pPr>
            <a:r>
              <a:rPr lang="en-US" sz="1800" b="1" dirty="0">
                <a:solidFill>
                  <a:srgbClr val="13294B"/>
                </a:solidFill>
                <a:latin typeface="Calibri" pitchFamily="34" charset="0"/>
                <a:ea typeface="Calibri" pitchFamily="34" charset="-122"/>
                <a:cs typeface="Calibri" pitchFamily="34" charset="-120"/>
              </a:rPr>
              <a:t>Who decides</a:t>
            </a:r>
            <a:endParaRPr lang="en-US" sz="1800" dirty="0"/>
          </a:p>
        </p:txBody>
      </p:sp>
      <p:sp>
        <p:nvSpPr>
          <p:cNvPr id="27" name="Text 22"/>
          <p:cNvSpPr txBox="1"/>
          <p:nvPr/>
        </p:nvSpPr>
        <p:spPr>
          <a:xfrm>
            <a:off x="8330184" y="3383280"/>
            <a:ext cx="3172968" cy="10972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RED needs two officers; escalation after 10 min; break-glass with a reason. Hash-chained audit log.</a:t>
            </a:r>
            <a:endParaRPr lang="en-US" sz="1600" dirty="0"/>
          </a:p>
        </p:txBody>
      </p:sp>
      <p:sp>
        <p:nvSpPr>
          <p:cNvPr id="28" name="Text 23"/>
          <p:cNvSpPr txBox="1"/>
          <p:nvPr/>
        </p:nvSpPr>
        <p:spPr>
          <a:xfrm>
            <a:off x="457200" y="4846320"/>
            <a:ext cx="11274552" cy="64008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CAP 1.2, the format NDMA SACHET uses · FastAPI · PostgreSQL / PostGIS · MapLibre · open source (MIT). Crowd counts on tracks and delivery channels are SIMULATED in the prototype; camera demo uses licensed festival photos.</a:t>
            </a:r>
            <a:endParaRPr lang="en-US" sz="13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Replay: 26 August 2025</a:t>
            </a:r>
            <a:endParaRPr lang="en-US" sz="3000" dirty="0"/>
          </a:p>
        </p:txBody>
      </p:sp>
      <p:pic>
        <p:nvPicPr>
          <p:cNvPr id="3" name="Image 0" descr="Console at 26 Aug 2025 05:00 IST: old track RED with the Why panel">    </p:cNvPr>
          <p:cNvPicPr>
            <a:picLocks noChangeAspect="1"/>
          </p:cNvPicPr>
          <p:nvPr/>
        </p:nvPicPr>
        <p:blipFill>
          <a:blip r:embed="rId1"/>
          <a:stretch>
            <a:fillRect/>
          </a:stretch>
        </p:blipFill>
        <p:spPr>
          <a:xfrm>
            <a:off x="457200" y="1188720"/>
            <a:ext cx="6098977" cy="3429000"/>
          </a:xfrm>
          <a:prstGeom prst="rect">
            <a:avLst/>
          </a:prstGeom>
        </p:spPr>
      </p:pic>
      <p:sp>
        <p:nvSpPr>
          <p:cNvPr id="4" name="frame-1"/>
          <p:cNvSpPr/>
          <p:nvPr/>
        </p:nvSpPr>
        <p:spPr>
          <a:xfrm>
            <a:off x="457200" y="1188720"/>
            <a:ext cx="6098977" cy="3429000"/>
          </a:xfrm>
          <a:prstGeom prst="rect">
            <a:avLst/>
          </a:prstGeom>
          <a:ln w="12700">
            <a:solidFill>
              <a:srgbClr val="D5DBE3"/>
            </a:solidFill>
            <a:prstDash val="solid"/>
          </a:ln>
        </p:spPr>
      </p:sp>
      <p:pic>
        <p:nvPicPr>
          <p:cNvPr id="5" name="Image 1" descr="RED alert approved by two officers, CAP 1.2 with Hindi text">    </p:cNvPr>
          <p:cNvPicPr>
            <a:picLocks noChangeAspect="1"/>
          </p:cNvPicPr>
          <p:nvPr/>
        </p:nvPicPr>
        <p:blipFill>
          <a:blip r:embed="rId2"/>
          <a:stretch>
            <a:fillRect/>
          </a:stretch>
        </p:blipFill>
        <p:spPr>
          <a:xfrm>
            <a:off x="6784777" y="1188720"/>
            <a:ext cx="2556456" cy="3429000"/>
          </a:xfrm>
          <a:prstGeom prst="rect">
            <a:avLst/>
          </a:prstGeom>
        </p:spPr>
      </p:pic>
      <p:sp>
        <p:nvSpPr>
          <p:cNvPr id="6" name="frame-2"/>
          <p:cNvSpPr/>
          <p:nvPr/>
        </p:nvSpPr>
        <p:spPr>
          <a:xfrm>
            <a:off x="6784777" y="1188720"/>
            <a:ext cx="2556456" cy="3429000"/>
          </a:xfrm>
          <a:prstGeom prst="rect">
            <a:avLst/>
          </a:prstGeom>
          <a:ln w="12700">
            <a:solidFill>
              <a:srgbClr val="D5DBE3"/>
            </a:solidFill>
            <a:prstDash val="solid"/>
          </a:ln>
        </p:spPr>
      </p:sp>
      <p:sp>
        <p:nvSpPr>
          <p:cNvPr id="7" name="Text 3"/>
          <p:cNvSpPr txBox="1"/>
          <p:nvPr/>
        </p:nvSpPr>
        <p:spPr>
          <a:xfrm>
            <a:off x="457200" y="4690872"/>
            <a:ext cx="6098977"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26 Aug 05:00 IST: old track at Adhkuwari RED, with the reasons in numbers</a:t>
            </a:r>
            <a:endParaRPr lang="en-US" sz="1100" dirty="0"/>
          </a:p>
        </p:txBody>
      </p:sp>
      <p:sp>
        <p:nvSpPr>
          <p:cNvPr id="8" name="Text 4"/>
          <p:cNvSpPr txBox="1"/>
          <p:nvPr/>
        </p:nvSpPr>
        <p:spPr>
          <a:xfrm>
            <a:off x="6784777" y="4690872"/>
            <a:ext cx="2556456"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RED alert: 2 of 2 officers, CAP in Hindi</a:t>
            </a:r>
            <a:endParaRPr lang="en-US" sz="1100" dirty="0"/>
          </a:p>
        </p:txBody>
      </p:sp>
      <p:sp>
        <p:nvSpPr>
          <p:cNvPr id="9" name="Text 5"/>
          <p:cNvSpPr txBox="1"/>
          <p:nvPr/>
        </p:nvSpPr>
        <p:spPr>
          <a:xfrm>
            <a:off x="9615553" y="1188720"/>
            <a:ext cx="2116199" cy="548640"/>
          </a:xfrm>
          <a:prstGeom prst="rect">
            <a:avLst/>
          </a:prstGeom>
          <a:noFill/>
          <a:ln/>
        </p:spPr>
        <p:txBody>
          <a:bodyPr wrap="square" lIns="0" tIns="0" rIns="0" bIns="0" rtlCol="0" anchor="t"/>
          <a:lstStyle/>
          <a:p>
            <a:pPr indent="0" marL="0">
              <a:buNone/>
            </a:pPr>
            <a:r>
              <a:rPr lang="en-US" sz="3200" b="1" dirty="0">
                <a:solidFill>
                  <a:srgbClr val="C62828"/>
                </a:solidFill>
                <a:latin typeface="Calibri" pitchFamily="34" charset="0"/>
                <a:ea typeface="Calibri" pitchFamily="34" charset="-122"/>
                <a:cs typeface="Calibri" pitchFamily="34" charset="-120"/>
              </a:rPr>
              <a:t>9.5 h</a:t>
            </a:r>
            <a:endParaRPr lang="en-US" sz="3200" dirty="0"/>
          </a:p>
        </p:txBody>
      </p:sp>
      <p:sp>
        <p:nvSpPr>
          <p:cNvPr id="10" name="Text 6"/>
          <p:cNvSpPr txBox="1"/>
          <p:nvPr/>
        </p:nvSpPr>
        <p:spPr>
          <a:xfrm>
            <a:off x="9615553" y="1737360"/>
            <a:ext cx="2116199"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RED before the slide (GFS)</a:t>
            </a:r>
            <a:endParaRPr lang="en-US" sz="1300" dirty="0"/>
          </a:p>
        </p:txBody>
      </p:sp>
      <p:sp>
        <p:nvSpPr>
          <p:cNvPr id="11" name="Text 7"/>
          <p:cNvSpPr txBox="1"/>
          <p:nvPr/>
        </p:nvSpPr>
        <p:spPr>
          <a:xfrm>
            <a:off x="9615553" y="2395728"/>
            <a:ext cx="2116199" cy="548640"/>
          </a:xfrm>
          <a:prstGeom prst="rect">
            <a:avLst/>
          </a:prstGeom>
          <a:noFill/>
          <a:ln/>
        </p:spPr>
        <p:txBody>
          <a:bodyPr wrap="square" lIns="0" tIns="0" rIns="0" bIns="0" rtlCol="0" anchor="t"/>
          <a:lstStyle/>
          <a:p>
            <a:pPr indent="0" marL="0">
              <a:buNone/>
            </a:pPr>
            <a:r>
              <a:rPr lang="en-US" sz="3200" b="1" dirty="0">
                <a:solidFill>
                  <a:srgbClr val="E65100"/>
                </a:solidFill>
                <a:latin typeface="Calibri" pitchFamily="34" charset="0"/>
                <a:ea typeface="Calibri" pitchFamily="34" charset="-122"/>
                <a:cs typeface="Calibri" pitchFamily="34" charset="-120"/>
              </a:rPr>
              <a:t>1.5 h</a:t>
            </a:r>
            <a:endParaRPr lang="en-US" sz="3200" dirty="0"/>
          </a:p>
        </p:txBody>
      </p:sp>
      <p:sp>
        <p:nvSpPr>
          <p:cNvPr id="12" name="Text 8"/>
          <p:cNvSpPr txBox="1"/>
          <p:nvPr/>
        </p:nvSpPr>
        <p:spPr>
          <a:xfrm>
            <a:off x="9615553" y="2944368"/>
            <a:ext cx="2116199"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with ECMWF or ERA5</a:t>
            </a:r>
            <a:endParaRPr lang="en-US" sz="1300" dirty="0"/>
          </a:p>
        </p:txBody>
      </p:sp>
      <p:sp>
        <p:nvSpPr>
          <p:cNvPr id="13" name="Text 9"/>
          <p:cNvSpPr txBox="1"/>
          <p:nvPr/>
        </p:nvSpPr>
        <p:spPr>
          <a:xfrm>
            <a:off x="9615553" y="3602736"/>
            <a:ext cx="2116199" cy="548640"/>
          </a:xfrm>
          <a:prstGeom prst="rect">
            <a:avLst/>
          </a:prstGeom>
          <a:noFill/>
          <a:ln/>
        </p:spPr>
        <p:txBody>
          <a:bodyPr wrap="square" lIns="0" tIns="0" rIns="0" bIns="0" rtlCol="0" anchor="t"/>
          <a:lstStyle/>
          <a:p>
            <a:pPr indent="0" marL="0">
              <a:buNone/>
            </a:pPr>
            <a:r>
              <a:rPr lang="en-US" sz="3200" b="1" dirty="0">
                <a:solidFill>
                  <a:srgbClr val="13294B"/>
                </a:solidFill>
                <a:latin typeface="Calibri" pitchFamily="34" charset="0"/>
                <a:ea typeface="Calibri" pitchFamily="34" charset="-122"/>
                <a:cs typeface="Calibri" pitchFamily="34" charset="-120"/>
              </a:rPr>
              <a:t>674 → 0</a:t>
            </a:r>
            <a:endParaRPr lang="en-US" sz="3200" dirty="0"/>
          </a:p>
        </p:txBody>
      </p:sp>
      <p:sp>
        <p:nvSpPr>
          <p:cNvPr id="14" name="Text 10"/>
          <p:cNvSpPr txBox="1"/>
          <p:nvPr/>
        </p:nvSpPr>
        <p:spPr>
          <a:xfrm>
            <a:off x="9615553" y="4151376"/>
            <a:ext cx="2116199" cy="4572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on the slide segment if held at first ORANGE</a:t>
            </a:r>
            <a:endParaRPr lang="en-US" sz="1300" dirty="0"/>
          </a:p>
        </p:txBody>
      </p:sp>
      <p:sp>
        <p:nvSpPr>
          <p:cNvPr id="15" name="Text 11"/>
          <p:cNvSpPr txBox="1"/>
          <p:nvPr/>
        </p:nvSpPr>
        <p:spPr>
          <a:xfrm>
            <a:off x="9615553" y="4700016"/>
            <a:ext cx="960120" cy="237744"/>
          </a:xfrm>
          <a:prstGeom prst="roundRect">
            <a:avLst>
              <a:gd name="adj" fmla="val 19231"/>
            </a:avLst>
          </a:prstGeom>
          <a:solidFill>
            <a:srgbClr val="6A1B9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SIMULATED</a:t>
            </a:r>
            <a:endParaRPr lang="en-US" sz="1000" dirty="0"/>
          </a:p>
        </p:txBody>
      </p:sp>
      <p:sp>
        <p:nvSpPr>
          <p:cNvPr id="16" name="Text 12"/>
          <p:cNvSpPr txBox="1"/>
          <p:nvPr/>
        </p:nvSpPr>
        <p:spPr>
          <a:xfrm>
            <a:off x="457200" y="5257800"/>
            <a:ext cx="11274552" cy="54864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Holding the ascent fills the Katra gate to 5.4 persons/m² inside a RED segment (SIMULATED): </a:t>
            </a:r>
            <a:pPr indent="0" marL="0">
              <a:buNone/>
            </a:pPr>
            <a:r>
              <a:rPr lang="en-US" sz="1600" b="1" dirty="0">
                <a:solidFill>
                  <a:srgbClr val="13294B"/>
                </a:solidFill>
                <a:latin typeface="Calibri" pitchFamily="34" charset="0"/>
                <a:ea typeface="Calibri" pitchFamily="34" charset="-122"/>
                <a:cs typeface="Calibri" pitchFamily="34" charset="-120"/>
              </a:rPr>
              <a:t>closing a track moves the risk to the people below it.</a:t>
            </a:r>
            <a:endParaRPr lang="en-US" sz="1600" dirty="0"/>
          </a:p>
        </p:txBody>
      </p:sp>
      <p:sp>
        <p:nvSpPr>
          <p:cNvPr id="17" name="Text 13"/>
          <p:cNvSpPr txBox="1"/>
          <p:nvPr/>
        </p:nvSpPr>
        <p:spPr>
          <a:xfrm>
            <a:off x="457200" y="5833872"/>
            <a:ext cx="11274552" cy="45720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Replay of archived model rain (Open-Meteo historical forecast, CC BY 4.0; 9–25 km grid): close to what a live system would have seen, not identical. Screenshots: real API replay; approval timestamps are from the demo run.</a:t>
            </a:r>
            <a:endParaRPr lang="en-US" sz="10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Impact, KPIs and scale</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589520" cy="914400"/>
        </p:xfrm>
        <a:graphic>
          <a:graphicData uri="http://schemas.openxmlformats.org/drawingml/2006/table">
            <a:tbl>
              <a:tblPr/>
              <a:tblGrid>
                <a:gridCol w="2468880"/>
                <a:gridCol w="3017520"/>
                <a:gridCol w="21031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KPI</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Prototype result</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Pilot target</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3294B"/>
                    </a:solidFill>
                  </a:tcPr>
                </a:tc>
              </a:tr>
              <a:tr h="50292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Lead time of RED before a slide</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1.5–9.5 h (26 Aug 2025 replay, 3 models)</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3 h with radar input</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Alerts with a named approver and time</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Open alerts at peak (26 Aug, 14:00)</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 one per track and level</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 per track and level</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73152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Pilgrims on slide segment at 14:00 (SIMULATED)</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674 no action → 0 if held at first ORANGE; 93 at first RED (GFS)</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Decision within 1 h of ORANGE</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0292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Camera crowd count error</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MAE 60 people/image (ShanghaiTech A)</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Validated on SMVDSB CCTV</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Time from proposal to decision</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Logged per alert</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Median &lt; 10 min</a:t>
                      </a:r>
                      <a:endParaRPr lang="en-US" sz="1300" dirty="0">
                        <a:latin typeface="Calibri" charset="0"/>
                        <a:ea typeface="Calibri" charset="0"/>
                        <a:cs typeface="Calibri"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pic>
        <p:nvPicPr>
          <p:cNvPr id="4" name="Image 0" descr="What-if panel: pilgrims on VD-OLD-01 at 14:00 by decision time">    </p:cNvPr>
          <p:cNvPicPr>
            <a:picLocks noChangeAspect="1"/>
          </p:cNvPicPr>
          <p:nvPr/>
        </p:nvPicPr>
        <p:blipFill>
          <a:blip r:embed="rId1"/>
          <a:stretch>
            <a:fillRect/>
          </a:stretch>
        </p:blipFill>
        <p:spPr>
          <a:xfrm>
            <a:off x="8682534" y="1188720"/>
            <a:ext cx="3049218" cy="3337560"/>
          </a:xfrm>
          <a:prstGeom prst="rect">
            <a:avLst/>
          </a:prstGeom>
        </p:spPr>
      </p:pic>
      <p:sp>
        <p:nvSpPr>
          <p:cNvPr id="5" name="Text 1"/>
          <p:cNvSpPr txBox="1"/>
          <p:nvPr/>
        </p:nvSpPr>
        <p:spPr>
          <a:xfrm>
            <a:off x="8682534" y="4599432"/>
            <a:ext cx="3049218"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Console what-if panel, GFS (SIMULATED pilgrims)</a:t>
            </a:r>
            <a:endParaRPr lang="en-US" sz="1100" dirty="0"/>
          </a:p>
        </p:txBody>
      </p:sp>
      <p:sp>
        <p:nvSpPr>
          <p:cNvPr id="6" name="Text 2"/>
          <p:cNvSpPr txBox="1"/>
          <p:nvPr/>
        </p:nvSpPr>
        <p:spPr>
          <a:xfrm>
            <a:off x="457200" y="5120640"/>
            <a:ext cx="11274552" cy="868680"/>
          </a:xfrm>
          <a:prstGeom prst="rect">
            <a:avLst/>
          </a:prstGeom>
          <a:noFill/>
          <a:ln/>
        </p:spPr>
        <p:txBody>
          <a:bodyPr wrap="square" lIns="0" tIns="0" rIns="0" bIns="0" rtlCol="0" anchor="t"/>
          <a:lstStyle/>
          <a:p>
            <a:pPr indent="0" marL="0">
              <a:buNone/>
            </a:pPr>
            <a:r>
              <a:rPr lang="en-US" sz="1500" b="1" dirty="0">
                <a:solidFill>
                  <a:srgbClr val="13294B"/>
                </a:solidFill>
                <a:latin typeface="Calibri" pitchFamily="34" charset="0"/>
                <a:ea typeface="Calibri" pitchFamily="34" charset="-122"/>
                <a:cs typeface="Calibri" pitchFamily="34" charset="-120"/>
              </a:rPr>
              <a:t>Scale: </a:t>
            </a:r>
            <a:pPr indent="0" marL="0">
              <a:buNone/>
            </a:pPr>
            <a:r>
              <a:rPr lang="en-US" sz="1500" dirty="0">
                <a:solidFill>
                  <a:srgbClr val="1F2937"/>
                </a:solidFill>
                <a:latin typeface="Calibri" pitchFamily="34" charset="0"/>
                <a:ea typeface="Calibri" pitchFamily="34" charset="-122"/>
                <a:cs typeface="Calibri" pitchFamily="34" charset="-120"/>
              </a:rPr>
              <a:t>same engine for Amarnath, Machail, Char Dham, Sabarimala — only segments and thresholds change. </a:t>
            </a:r>
            <a:pPr indent="0" marL="0">
              <a:buNone/>
            </a:pPr>
            <a:r>
              <a:rPr lang="en-US" sz="1500" b="1" dirty="0">
                <a:solidFill>
                  <a:srgbClr val="13294B"/>
                </a:solidFill>
                <a:latin typeface="Calibri" pitchFamily="34" charset="0"/>
                <a:ea typeface="Calibri" pitchFamily="34" charset="-122"/>
                <a:cs typeface="Calibri" pitchFamily="34" charset="-120"/>
              </a:rPr>
              <a:t>Sustainable: </a:t>
            </a:r>
            <a:pPr indent="0" marL="0">
              <a:buNone/>
            </a:pPr>
            <a:r>
              <a:rPr lang="en-US" sz="1500" dirty="0">
                <a:solidFill>
                  <a:srgbClr val="1F2937"/>
                </a:solidFill>
                <a:latin typeface="Calibri" pitchFamily="34" charset="0"/>
                <a:ea typeface="Calibri" pitchFamily="34" charset="-122"/>
                <a:cs typeface="Calibri" pitchFamily="34" charset="-120"/>
              </a:rPr>
              <a:t>open source, one small server, fits shrine-board control rooms and SDMA. Add Dogri, Kashmiri, Pahari with native speakers.</a:t>
            </a:r>
            <a:endParaRPr lang="en-US" sz="15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Implementation roadmap and what it needs</a:t>
            </a:r>
            <a:endParaRPr lang="en-US" sz="3000" dirty="0"/>
          </a:p>
        </p:txBody>
      </p:sp>
      <p:sp>
        <p:nvSpPr>
          <p:cNvPr id="3" name="phase-1"/>
          <p:cNvSpPr/>
          <p:nvPr/>
        </p:nvSpPr>
        <p:spPr>
          <a:xfrm>
            <a:off x="457200" y="1280160"/>
            <a:ext cx="3822192" cy="731520"/>
          </a:xfrm>
          <a:prstGeom prst="homePlate">
            <a:avLst/>
          </a:prstGeom>
          <a:solidFill>
            <a:srgbClr val="13294B"/>
          </a:solidFill>
          <a:ln w="12700">
            <a:solidFill>
              <a:srgbClr val="FFFFFF"/>
            </a:solidFill>
            <a:prstDash val="solid"/>
          </a:ln>
        </p:spPr>
      </p:sp>
      <p:sp>
        <p:nvSpPr>
          <p:cNvPr id="4" name="Text 2"/>
          <p:cNvSpPr txBox="1"/>
          <p:nvPr/>
        </p:nvSpPr>
        <p:spPr>
          <a:xfrm>
            <a:off x="685800" y="1280160"/>
            <a:ext cx="308152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  Pilot (one monsoon)</a:t>
            </a:r>
            <a:endParaRPr lang="en-US" sz="1800" dirty="0"/>
          </a:p>
        </p:txBody>
      </p:sp>
      <p:sp>
        <p:nvSpPr>
          <p:cNvPr id="5" name="Text 3"/>
          <p:cNvSpPr txBox="1"/>
          <p:nvPr/>
        </p:nvSpPr>
        <p:spPr>
          <a:xfrm>
            <a:off x="548640" y="2194560"/>
            <a:ext cx="3355848" cy="13716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Old track + Himkoti with the SMVDSB control room and SDRF. Read-only, no public alerts; compare proposals with real decisions.</a:t>
            </a:r>
            <a:endParaRPr lang="en-US" sz="1600" dirty="0"/>
          </a:p>
        </p:txBody>
      </p:sp>
      <p:sp>
        <p:nvSpPr>
          <p:cNvPr id="6" name="phase-2"/>
          <p:cNvSpPr/>
          <p:nvPr/>
        </p:nvSpPr>
        <p:spPr>
          <a:xfrm>
            <a:off x="4279392" y="1280160"/>
            <a:ext cx="3822192" cy="731520"/>
          </a:xfrm>
          <a:prstGeom prst="chevron">
            <a:avLst/>
          </a:prstGeom>
          <a:solidFill>
            <a:srgbClr val="13294B"/>
          </a:solidFill>
          <a:ln w="12700">
            <a:solidFill>
              <a:srgbClr val="FFFFFF"/>
            </a:solidFill>
            <a:prstDash val="solid"/>
          </a:ln>
        </p:spPr>
      </p:sp>
      <p:sp>
        <p:nvSpPr>
          <p:cNvPr id="7" name="Text 5"/>
          <p:cNvSpPr txBox="1"/>
          <p:nvPr/>
        </p:nvSpPr>
        <p:spPr>
          <a:xfrm>
            <a:off x="4736592" y="1280160"/>
            <a:ext cx="308152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2  Calibrate</a:t>
            </a:r>
            <a:endParaRPr lang="en-US" sz="1800" dirty="0"/>
          </a:p>
        </p:txBody>
      </p:sp>
      <p:sp>
        <p:nvSpPr>
          <p:cNvPr id="8" name="Text 6"/>
          <p:cNvSpPr txBox="1"/>
          <p:nvPr/>
        </p:nvSpPr>
        <p:spPr>
          <a:xfrm>
            <a:off x="4370832" y="2194560"/>
            <a:ext cx="3355848" cy="13716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Local slide records, IMD radar feed, 3–5 rain gauges on the track, GSI susceptibility layer.</a:t>
            </a:r>
            <a:endParaRPr lang="en-US" sz="1600" dirty="0"/>
          </a:p>
        </p:txBody>
      </p:sp>
      <p:sp>
        <p:nvSpPr>
          <p:cNvPr id="9" name="phase-3"/>
          <p:cNvSpPr/>
          <p:nvPr/>
        </p:nvSpPr>
        <p:spPr>
          <a:xfrm>
            <a:off x="8101584" y="1280160"/>
            <a:ext cx="3630168" cy="731520"/>
          </a:xfrm>
          <a:prstGeom prst="chevron">
            <a:avLst/>
          </a:prstGeom>
          <a:solidFill>
            <a:srgbClr val="13294B"/>
          </a:solidFill>
          <a:ln w="12700">
            <a:solidFill>
              <a:srgbClr val="FFFFFF"/>
            </a:solidFill>
            <a:prstDash val="solid"/>
          </a:ln>
        </p:spPr>
      </p:sp>
      <p:sp>
        <p:nvSpPr>
          <p:cNvPr id="10" name="Text 8"/>
          <p:cNvSpPr txBox="1"/>
          <p:nvPr/>
        </p:nvSpPr>
        <p:spPr>
          <a:xfrm>
            <a:off x="8558784" y="1280160"/>
            <a:ext cx="3081528"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  Integrate</a:t>
            </a:r>
            <a:endParaRPr lang="en-US" sz="1800" dirty="0"/>
          </a:p>
        </p:txBody>
      </p:sp>
      <p:sp>
        <p:nvSpPr>
          <p:cNvPr id="11" name="Text 9"/>
          <p:cNvSpPr txBox="1"/>
          <p:nvPr/>
        </p:nvSpPr>
        <p:spPr>
          <a:xfrm>
            <a:off x="8193024" y="2194560"/>
            <a:ext cx="3355848" cy="13716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RFID gate counts, CCTV density, approved CAP to SACHET, app and PA.</a:t>
            </a:r>
            <a:endParaRPr lang="en-US" sz="1600" dirty="0"/>
          </a:p>
        </p:txBody>
      </p:sp>
      <p:sp>
        <p:nvSpPr>
          <p:cNvPr id="12" name="box-1"/>
          <p:cNvSpPr/>
          <p:nvPr/>
        </p:nvSpPr>
        <p:spPr>
          <a:xfrm>
            <a:off x="457200" y="3657600"/>
            <a:ext cx="5541264" cy="1691640"/>
          </a:xfrm>
          <a:prstGeom prst="roundRect">
            <a:avLst>
              <a:gd name="adj" fmla="val 4324"/>
            </a:avLst>
          </a:prstGeom>
          <a:solidFill>
            <a:srgbClr val="F1F4F8"/>
          </a:solidFill>
          <a:ln w="12700">
            <a:solidFill>
              <a:srgbClr val="F1F4F8"/>
            </a:solidFill>
            <a:prstDash val="solid"/>
          </a:ln>
        </p:spPr>
      </p:sp>
      <p:pic>
        <p:nvPicPr>
          <p:cNvPr id="13" name="Image 0" descr="What it needs">    </p:cNvPr>
          <p:cNvPicPr>
            <a:picLocks noChangeAspect="1"/>
          </p:cNvPicPr>
          <p:nvPr/>
        </p:nvPicPr>
        <p:blipFill>
          <a:blip r:embed="rId1"/>
          <a:stretch>
            <a:fillRect/>
          </a:stretch>
        </p:blipFill>
        <p:spPr>
          <a:xfrm>
            <a:off x="731520" y="3840480"/>
            <a:ext cx="411480" cy="411480"/>
          </a:xfrm>
          <a:prstGeom prst="rect">
            <a:avLst/>
          </a:prstGeom>
        </p:spPr>
      </p:pic>
      <p:sp>
        <p:nvSpPr>
          <p:cNvPr id="14" name="Text 11"/>
          <p:cNvSpPr txBox="1"/>
          <p:nvPr/>
        </p:nvSpPr>
        <p:spPr>
          <a:xfrm>
            <a:off x="1325880" y="3840480"/>
            <a:ext cx="4443984" cy="411480"/>
          </a:xfrm>
          <a:prstGeom prst="rect">
            <a:avLst/>
          </a:prstGeom>
          <a:noFill/>
          <a:ln/>
        </p:spPr>
        <p:txBody>
          <a:bodyPr wrap="square" lIns="0" tIns="0" rIns="0" bIns="0" rtlCol="0" anchor="ctr"/>
          <a:lstStyle/>
          <a:p>
            <a:pPr indent="0" marL="0">
              <a:buNone/>
            </a:pPr>
            <a:r>
              <a:rPr lang="en-US" sz="1800" b="1" dirty="0">
                <a:solidFill>
                  <a:srgbClr val="13294B"/>
                </a:solidFill>
                <a:latin typeface="Calibri" pitchFamily="34" charset="0"/>
                <a:ea typeface="Calibri" pitchFamily="34" charset="-122"/>
                <a:cs typeface="Calibri" pitchFamily="34" charset="-120"/>
              </a:rPr>
              <a:t>What it needs</a:t>
            </a:r>
            <a:endParaRPr lang="en-US" sz="1800" dirty="0"/>
          </a:p>
        </p:txBody>
      </p:sp>
      <p:sp>
        <p:nvSpPr>
          <p:cNvPr id="15" name="Text 12"/>
          <p:cNvSpPr txBox="1"/>
          <p:nvPr/>
        </p:nvSpPr>
        <p:spPr>
          <a:xfrm>
            <a:off x="731520" y="4434840"/>
            <a:ext cx="4992624" cy="82296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Data-sharing MoU · one server · a field-officer champion · native-speaker review</a:t>
            </a:r>
            <a:endParaRPr lang="en-US" sz="1600" dirty="0"/>
          </a:p>
        </p:txBody>
      </p:sp>
      <p:sp>
        <p:nvSpPr>
          <p:cNvPr id="16" name="box-2"/>
          <p:cNvSpPr/>
          <p:nvPr/>
        </p:nvSpPr>
        <p:spPr>
          <a:xfrm>
            <a:off x="6190488" y="3657600"/>
            <a:ext cx="5541264" cy="1691640"/>
          </a:xfrm>
          <a:prstGeom prst="roundRect">
            <a:avLst>
              <a:gd name="adj" fmla="val 4324"/>
            </a:avLst>
          </a:prstGeom>
          <a:solidFill>
            <a:srgbClr val="FDECEC"/>
          </a:solidFill>
          <a:ln w="12700">
            <a:solidFill>
              <a:srgbClr val="FDECEC"/>
            </a:solidFill>
            <a:prstDash val="solid"/>
          </a:ln>
        </p:spPr>
      </p:sp>
      <p:pic>
        <p:nvPicPr>
          <p:cNvPr id="17" name="Image 1" descr="Limits, shown openly">    </p:cNvPr>
          <p:cNvPicPr>
            <a:picLocks noChangeAspect="1"/>
          </p:cNvPicPr>
          <p:nvPr/>
        </p:nvPicPr>
        <p:blipFill>
          <a:blip r:embed="rId2"/>
          <a:stretch>
            <a:fillRect/>
          </a:stretch>
        </p:blipFill>
        <p:spPr>
          <a:xfrm>
            <a:off x="6464808" y="3840480"/>
            <a:ext cx="411480" cy="411480"/>
          </a:xfrm>
          <a:prstGeom prst="rect">
            <a:avLst/>
          </a:prstGeom>
        </p:spPr>
      </p:pic>
      <p:sp>
        <p:nvSpPr>
          <p:cNvPr id="18" name="Text 14"/>
          <p:cNvSpPr txBox="1"/>
          <p:nvPr/>
        </p:nvSpPr>
        <p:spPr>
          <a:xfrm>
            <a:off x="7059168" y="3840480"/>
            <a:ext cx="4443984" cy="411480"/>
          </a:xfrm>
          <a:prstGeom prst="rect">
            <a:avLst/>
          </a:prstGeom>
          <a:noFill/>
          <a:ln/>
        </p:spPr>
        <p:txBody>
          <a:bodyPr wrap="square" lIns="0" tIns="0" rIns="0" bIns="0" rtlCol="0" anchor="ctr"/>
          <a:lstStyle/>
          <a:p>
            <a:pPr indent="0" marL="0">
              <a:buNone/>
            </a:pPr>
            <a:r>
              <a:rPr lang="en-US" sz="1800" b="1" dirty="0">
                <a:solidFill>
                  <a:srgbClr val="C62828"/>
                </a:solidFill>
                <a:latin typeface="Calibri" pitchFamily="34" charset="0"/>
                <a:ea typeface="Calibri" pitchFamily="34" charset="-122"/>
                <a:cs typeface="Calibri" pitchFamily="34" charset="-120"/>
              </a:rPr>
              <a:t>Limits, shown openly</a:t>
            </a:r>
            <a:endParaRPr lang="en-US" sz="1800" dirty="0"/>
          </a:p>
        </p:txBody>
      </p:sp>
      <p:sp>
        <p:nvSpPr>
          <p:cNvPr id="19" name="Text 15"/>
          <p:cNvSpPr txBox="1"/>
          <p:nvPr/>
        </p:nvSpPr>
        <p:spPr>
          <a:xfrm>
            <a:off x="6464808" y="4434840"/>
            <a:ext cx="4992624" cy="82296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Thresholds not calibrated for these tracks · 9–25 km rain grid · crowd and delivery channels SIMULATED</a:t>
            </a:r>
            <a:endParaRPr lang="en-US" sz="16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31520"/>
          </a:xfrm>
          <a:prstGeom prst="rect">
            <a:avLst/>
          </a:prstGeom>
          <a:noFill/>
          <a:ln/>
        </p:spPr>
        <p:txBody>
          <a:bodyPr wrap="square" lIns="0" tIns="0" rIns="0" bIns="0" rtlCol="0" anchor="ctr"/>
          <a:lstStyle/>
          <a:p>
            <a:pPr indent="0" marL="0">
              <a:buNone/>
            </a:pPr>
            <a:r>
              <a:rPr lang="en-US" sz="3000" b="1" dirty="0">
                <a:solidFill>
                  <a:srgbClr val="13294B"/>
                </a:solidFill>
                <a:latin typeface="Calibri" pitchFamily="34" charset="0"/>
                <a:ea typeface="Calibri" pitchFamily="34" charset="-122"/>
                <a:cs typeface="Calibri" pitchFamily="34" charset="-120"/>
              </a:rPr>
              <a:t>Team and AI-use disclosure</a:t>
            </a:r>
            <a:endParaRPr lang="en-US" sz="3000" dirty="0"/>
          </a:p>
        </p:txBody>
      </p:sp>
      <p:sp>
        <p:nvSpPr>
          <p:cNvPr id="3" name="team-avatar"/>
          <p:cNvSpPr/>
          <p:nvPr/>
        </p:nvSpPr>
        <p:spPr>
          <a:xfrm>
            <a:off x="457200" y="1280160"/>
            <a:ext cx="1005840" cy="1005840"/>
          </a:xfrm>
          <a:prstGeom prst="ellipse">
            <a:avLst/>
          </a:prstGeom>
          <a:solidFill>
            <a:srgbClr val="13294B"/>
          </a:solidFill>
          <a:ln w="12700">
            <a:solidFill>
              <a:srgbClr val="13294B"/>
            </a:solidFill>
            <a:prstDash val="solid"/>
          </a:ln>
        </p:spPr>
      </p:sp>
      <p:sp>
        <p:nvSpPr>
          <p:cNvPr id="4" name="Text 2"/>
          <p:cNvSpPr txBox="1"/>
          <p:nvPr/>
        </p:nvSpPr>
        <p:spPr>
          <a:xfrm>
            <a:off x="457200" y="128016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RB</a:t>
            </a:r>
            <a:endParaRPr lang="en-US" sz="2600" dirty="0"/>
          </a:p>
        </p:txBody>
      </p:sp>
      <p:sp>
        <p:nvSpPr>
          <p:cNvPr id="5" name="Text 3"/>
          <p:cNvSpPr txBox="1"/>
          <p:nvPr/>
        </p:nvSpPr>
        <p:spPr>
          <a:xfrm>
            <a:off x="1691640" y="1280160"/>
            <a:ext cx="3291840" cy="411480"/>
          </a:xfrm>
          <a:prstGeom prst="rect">
            <a:avLst/>
          </a:prstGeom>
          <a:noFill/>
          <a:ln/>
        </p:spPr>
        <p:txBody>
          <a:bodyPr wrap="square" lIns="0" tIns="0" rIns="0" bIns="0" rtlCol="0" anchor="t"/>
          <a:lstStyle/>
          <a:p>
            <a:pPr indent="0" marL="0">
              <a:buNone/>
            </a:pPr>
            <a:r>
              <a:rPr lang="en-US" sz="2000" b="1" dirty="0">
                <a:solidFill>
                  <a:srgbClr val="13294B"/>
                </a:solidFill>
                <a:latin typeface="Calibri" pitchFamily="34" charset="0"/>
                <a:ea typeface="Calibri" pitchFamily="34" charset="-122"/>
                <a:cs typeface="Calibri" pitchFamily="34" charset="-120"/>
              </a:rPr>
              <a:t>Ritik Bhardwaj</a:t>
            </a:r>
            <a:endParaRPr lang="en-US" sz="2000" dirty="0"/>
          </a:p>
        </p:txBody>
      </p:sp>
      <p:sp>
        <p:nvSpPr>
          <p:cNvPr id="6" name="Text 4"/>
          <p:cNvSpPr txBox="1"/>
          <p:nvPr/>
        </p:nvSpPr>
        <p:spPr>
          <a:xfrm>
            <a:off x="1691640" y="1691640"/>
            <a:ext cx="3291840" cy="5486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B.Tech IT, NIT Srinagar · solo entry, J&amp;K</a:t>
            </a:r>
            <a:endParaRPr lang="en-US" sz="1400" dirty="0"/>
          </a:p>
        </p:txBody>
      </p:sp>
      <p:sp>
        <p:nvSpPr>
          <p:cNvPr id="7" name="Text 5"/>
          <p:cNvSpPr txBox="1"/>
          <p:nvPr/>
        </p:nvSpPr>
        <p:spPr>
          <a:xfrm>
            <a:off x="457200" y="2514600"/>
            <a:ext cx="4526280" cy="54864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Problem framing, design decisions, validation, pitch.</a:t>
            </a:r>
            <a:endParaRPr lang="en-US" sz="1600" dirty="0"/>
          </a:p>
        </p:txBody>
      </p:sp>
      <p:sp>
        <p:nvSpPr>
          <p:cNvPr id="8" name="Text 6"/>
          <p:cNvSpPr txBox="1"/>
          <p:nvPr/>
        </p:nvSpPr>
        <p:spPr>
          <a:xfrm>
            <a:off x="457200" y="3154680"/>
            <a:ext cx="4526280" cy="548640"/>
          </a:xfrm>
          <a:prstGeom prst="rect">
            <a:avLst/>
          </a:prstGeom>
          <a:noFill/>
          <a:ln/>
        </p:spPr>
        <p:txBody>
          <a:bodyPr wrap="square" lIns="0" tIns="0" rIns="0" bIns="0" rtlCol="0" anchor="t"/>
          <a:lstStyle/>
          <a:p>
            <a:pPr indent="0" marL="0">
              <a:buNone/>
            </a:pPr>
            <a:r>
              <a:rPr lang="en-US" sz="1400" b="1" dirty="0">
                <a:solidFill>
                  <a:srgbClr val="13294B"/>
                </a:solidFill>
                <a:latin typeface="Calibri" pitchFamily="34" charset="0"/>
                <a:ea typeface="Calibri" pitchFamily="34" charset="-122"/>
                <a:cs typeface="Calibri" pitchFamily="34" charset="-120"/>
              </a:rPr>
              <a:t>Code: </a:t>
            </a:r>
            <a:pPr indent="0" marL="0">
              <a:buNone/>
            </a:pPr>
            <a:r>
              <a:rPr lang="en-US" sz="1400" dirty="0">
                <a:solidFill>
                  <a:srgbClr val="1F2937"/>
                </a:solidFill>
                <a:latin typeface="Calibri" pitchFamily="34" charset="0"/>
                <a:ea typeface="Calibri" pitchFamily="34" charset="-122"/>
                <a:cs typeface="Calibri" pitchFamily="34" charset="-120"/>
              </a:rPr>
              <a:t>github.com/RitikBhardwaj-programmer/YatraKavach (MIT)</a:t>
            </a:r>
            <a:endParaRPr lang="en-US" sz="1400" dirty="0"/>
          </a:p>
        </p:txBody>
      </p:sp>
      <p:sp>
        <p:nvSpPr>
          <p:cNvPr id="9" name="ai-disclosure"/>
          <p:cNvSpPr/>
          <p:nvPr/>
        </p:nvSpPr>
        <p:spPr>
          <a:xfrm>
            <a:off x="5257800" y="1280160"/>
            <a:ext cx="6473952" cy="2788920"/>
          </a:xfrm>
          <a:prstGeom prst="roundRect">
            <a:avLst>
              <a:gd name="adj" fmla="val 2623"/>
            </a:avLst>
          </a:prstGeom>
          <a:solidFill>
            <a:srgbClr val="F1F4F8"/>
          </a:solidFill>
          <a:ln w="19050">
            <a:solidFill>
              <a:srgbClr val="13294B"/>
            </a:solidFill>
            <a:prstDash val="solid"/>
          </a:ln>
        </p:spPr>
      </p:sp>
      <p:pic>
        <p:nvPicPr>
          <p:cNvPr id="10" name="Image 0" descr="AI-use disclosure">    </p:cNvPr>
          <p:cNvPicPr>
            <a:picLocks noChangeAspect="1"/>
          </p:cNvPicPr>
          <p:nvPr/>
        </p:nvPicPr>
        <p:blipFill>
          <a:blip r:embed="rId1"/>
          <a:stretch>
            <a:fillRect/>
          </a:stretch>
        </p:blipFill>
        <p:spPr>
          <a:xfrm>
            <a:off x="5532120" y="1463040"/>
            <a:ext cx="411480" cy="411480"/>
          </a:xfrm>
          <a:prstGeom prst="rect">
            <a:avLst/>
          </a:prstGeom>
        </p:spPr>
      </p:pic>
      <p:sp>
        <p:nvSpPr>
          <p:cNvPr id="11" name="Text 8"/>
          <p:cNvSpPr txBox="1"/>
          <p:nvPr/>
        </p:nvSpPr>
        <p:spPr>
          <a:xfrm>
            <a:off x="6126480" y="1463040"/>
            <a:ext cx="3657600" cy="411480"/>
          </a:xfrm>
          <a:prstGeom prst="rect">
            <a:avLst/>
          </a:prstGeom>
          <a:noFill/>
          <a:ln/>
        </p:spPr>
        <p:txBody>
          <a:bodyPr wrap="square" lIns="0" tIns="0" rIns="0" bIns="0" rtlCol="0" anchor="ctr"/>
          <a:lstStyle/>
          <a:p>
            <a:pPr indent="0" marL="0">
              <a:buNone/>
            </a:pPr>
            <a:r>
              <a:rPr lang="en-US" sz="1800" b="1" dirty="0">
                <a:solidFill>
                  <a:srgbClr val="13294B"/>
                </a:solidFill>
                <a:latin typeface="Calibri" pitchFamily="34" charset="0"/>
                <a:ea typeface="Calibri" pitchFamily="34" charset="-122"/>
                <a:cs typeface="Calibri" pitchFamily="34" charset="-120"/>
              </a:rPr>
              <a:t>AI-use disclosure</a:t>
            </a:r>
            <a:endParaRPr lang="en-US" sz="1800" dirty="0"/>
          </a:p>
        </p:txBody>
      </p:sp>
      <p:sp>
        <p:nvSpPr>
          <p:cNvPr id="12" name="Text 9"/>
          <p:cNvSpPr txBox="1"/>
          <p:nvPr/>
        </p:nvSpPr>
        <p:spPr>
          <a:xfrm>
            <a:off x="5532120" y="2011680"/>
            <a:ext cx="5925312" cy="2377440"/>
          </a:xfrm>
          <a:prstGeom prst="rect">
            <a:avLst/>
          </a:prstGeom>
          <a:noFill/>
          <a:ln/>
        </p:spPr>
        <p:txBody>
          <a:bodyPr wrap="square" lIns="0" tIns="0" rIns="0" bIns="0" rtlCol="0" anchor="t"/>
          <a:lstStyle/>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Tool: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Claude Code (Anthropic), as coding and research agent.</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AI did: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research report, most code, tests and docs, an independent code review.</a:t>
            </a:r>
            <a:endParaRPr lang="en-US" sz="1500" dirty="0"/>
          </a:p>
          <a:p>
            <a:pPr indent="0" marL="0">
              <a:spcAft>
                <a:spcPts val="600"/>
              </a:spcAft>
              <a:buNone/>
            </a:pPr>
            <a:r>
              <a:rPr lang="en-US" sz="1500" b="1" dirty="0">
                <a:solidFill>
                  <a:srgbClr val="1F2937"/>
                </a:solidFill>
                <a:latin typeface="Calibri" pitchFamily="34" charset="0"/>
                <a:ea typeface="Calibri" pitchFamily="34" charset="-122"/>
                <a:cs typeface="Calibri" pitchFamily="34" charset="-120"/>
              </a:rPr>
              <a:t>Team did: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chose the problem, set requirements, approved every design and fix, validated results.</a:t>
            </a:r>
            <a:endParaRPr lang="en-US" sz="1500" dirty="0"/>
          </a:p>
          <a:p>
            <a:pPr indent="0" marL="0">
              <a:spcAft>
                <a:spcPts val="600"/>
              </a:spcAft>
              <a:buNone/>
            </a:pPr>
            <a:r>
              <a:rPr lang="en-US" sz="1500" b="1" dirty="0">
                <a:solidFill>
                  <a:srgbClr val="C62828"/>
                </a:solidFill>
                <a:latin typeface="Calibri" pitchFamily="34" charset="0"/>
                <a:ea typeface="Calibri" pitchFamily="34" charset="-122"/>
                <a:cs typeface="Calibri" pitchFamily="34" charset="-120"/>
              </a:rPr>
              <a:t>Share (team estimate):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about 60–65% of code and documents AI-generated under the team’s direction.</a:t>
            </a:r>
            <a:endParaRPr lang="en-US" sz="1500" dirty="0"/>
          </a:p>
        </p:txBody>
      </p:sp>
      <p:sp>
        <p:nvSpPr>
          <p:cNvPr id="13" name="Text 10"/>
          <p:cNvSpPr txBox="1"/>
          <p:nvPr/>
        </p:nvSpPr>
        <p:spPr>
          <a:xfrm>
            <a:off x="457200" y="4434840"/>
            <a:ext cx="11274552" cy="1280160"/>
          </a:xfrm>
          <a:prstGeom prst="rect">
            <a:avLst/>
          </a:prstGeom>
          <a:noFill/>
          <a:ln/>
        </p:spPr>
        <p:txBody>
          <a:bodyPr wrap="square" lIns="0" tIns="0" rIns="0" bIns="0" rtlCol="0" anchor="t"/>
          <a:lstStyle/>
          <a:p>
            <a:pPr indent="0" marL="0">
              <a:buNone/>
            </a:pPr>
            <a:r>
              <a:rPr lang="en-US" sz="1200" b="1" dirty="0">
                <a:solidFill>
                  <a:srgbClr val="13294B"/>
                </a:solidFill>
                <a:latin typeface="Calibri" pitchFamily="34" charset="0"/>
                <a:ea typeface="Calibri" pitchFamily="34" charset="-122"/>
                <a:cs typeface="Calibri" pitchFamily="34" charset="-120"/>
              </a:rPr>
              <a:t>Data and credits: </a:t>
            </a:r>
            <a:pPr indent="0" marL="0">
              <a:buNone/>
            </a:pPr>
            <a:r>
              <a:rPr lang="en-US" sz="1200" dirty="0">
                <a:solidFill>
                  <a:srgbClr val="1F2937"/>
                </a:solidFill>
                <a:latin typeface="Calibri" pitchFamily="34" charset="0"/>
                <a:ea typeface="Calibri" pitchFamily="34" charset="-122"/>
                <a:cs typeface="Calibri" pitchFamily="34" charset="-120"/>
              </a:rPr>
              <a:t>Tracks © OpenStreetMap contributors (ODbL). Elevation: Copernicus DEM GLO-90 via Open-Meteo. Rain: Open-Meteo.com (CC BY 4.0), ECMWF IFS, NOAA GFS, ERA5. Thresholds: Shah et al. 2024; Dahal &amp; Hasegawa 2008. Crowd model: DM-Count (MIT). Demo photos: Wikimedia Commons (CC BY 4.0 / CC BY 2.5 / CC BY-SA 4.0), authors in the repo. Pilgrim counts, holding queues and delivery channels are SIMULATED; all CAP messages are status=Exercise.</a:t>
            </a:r>
            <a:endParaRPr lang="en-US" sz="1200" dirty="0"/>
          </a:p>
        </p:txBody>
      </p:sp>
      <p:sp>
        <p:nvSpPr>
          <p:cNvPr id="25" name="Slide Number Placeholder 0"/>
          <p:cNvSpPr>
            <a:spLocks noGrp="1"/>
          </p:cNvSpPr>
          <p:nvPr>
            <p:ph type="sldNum" sz="quarter" idx="4294967295"/>
          </p:nvPr>
        </p:nvSpPr>
        <p:spPr>
          <a:xfrm>
            <a:off x="1127455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YatraKavach: HSC 2027 pitch deck</dc:title>
  <dc:subject>PptxGenJS Presentation</dc:subject>
  <dc:creator>Team kavach (Ritik Bhardwaj)</dc:creator>
  <cp:lastModifiedBy>Team kavach (Ritik Bhardwaj)</cp:lastModifiedBy>
  <cp:revision>1</cp:revision>
  <dcterms:created xsi:type="dcterms:W3CDTF">2026-10-26T10:50:34Z</dcterms:created>
  <dcterms:modified xsi:type="dcterms:W3CDTF">2026-10-26T10:50:34Z</dcterms:modified>
</cp:coreProperties>
</file>