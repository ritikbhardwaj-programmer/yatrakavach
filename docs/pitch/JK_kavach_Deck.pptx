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YatraKavach, team kavach, HSC|JK|00032, Jammu &amp; Kashmir, Theme 11 Disaster Mitigation &amp; Resilience. One line: the warning existed, the decision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three disasters a warning reached some official, but nobody turned it into 'close this stretch, move these people, now', and nobody can show who decided. YatraKavach splits the tracks into 35 segments, scores landslide hazard every hour from rain against published Himalayan thresholds, adds the people on each segment, and proposes one action per track and level. Nothing goes out automatically: a named officer approves, RED needs two officers, and every step is in a hash-chained audit log. The approved alert is CAP 1.2 in English, Hindi and 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Stack: Python 3.12 and FastAPI, PostgreSQL with PostGIS, a MapLibre web console, Docker Compose; 258 automated tests pass. Data: OpenStreetMap tracks, Copernicus DEM slope, Open-Meteo archived forecasts from ECMWF, GFS and ERA5. Crowd counts from a camera frame use DM-Count on ONNX Runtime. Method: segment, score hourly, add exposure, propose, approve, send CAP; validated by replaying 26 August 2025.
AI-use disclosure, as the rules require: built with Claude Code from Anthropic as a coding and research agent. The team chose the problem, set the requirements, approved every design decision and fix, and checked the results. Team estimate: about 60-65% of code and documents AI-generated under the team's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benefits: pilgrims (Vaishno Devi cap 50,000 a day), pony and palki operators, shopkeepers, SDRF and police. In the 26 Aug 2025 replay, the old track reaches RED 1.5 to 9.5 hours before the 14:40 slide, depending on the model. With SIMULATED pilgrims, a hold at the first ORANGE leaves 0 people on the slide segment at 14:00 instead of 674. Benefits: earlier segment-level action, holding only segments at risk, and a named approver for every alert. Stakeholders: shrine board, SDMA, district administration, SDRF, police, IMD, GSI, NDMA SACHET.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the prototype works end to end and 258 tests pass; it uses only open data and runs on one small server; CAP 1.2 fits SACHET. Roadmap: one read-only monsoon pilot, then calibration, then integration. Risks said openly: thresholds are not calibrated for these tracks; the rain grid is coarse and lead time depends on the model; rules on monsoon rain can flood officers, so alerts are grouped per track and level (27 to 6 in the replay); a hold moves the risk to the gate below; crowd data is simulated until a data-sharing MoU.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Ritik Bhardwaj, B.Tech IT at NIT Srinagar, a solo entry for J&amp;K. I framed the problem, made the design decisions, directed the AI agent and checked its work, validated the results and own this pitch. Challenges: time, the missing Machail trek in OSM, an early replay that used the event it predicted, and an alert flood that grouping fixed. Journey: the gap is the decision, not the forecast, and I show the weak case openly.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claims trace to these sources; the full sourced research is in docs/research.md in the public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C:\Users\DELL\Hackathons\YatraKavach\docs\pitch\img\hsc-logo.jpg">    </p:cNvPr>
          <p:cNvPicPr>
            <a:picLocks noChangeAspect="1"/>
          </p:cNvPicPr>
          <p:nvPr/>
        </p:nvPicPr>
        <p:blipFill>
          <a:blip r:embed="rId1"/>
          <a:stretch>
            <a:fillRect/>
          </a:stretch>
        </p:blipFill>
        <p:spPr>
          <a:xfrm>
            <a:off x="9921240" y="137160"/>
            <a:ext cx="1828800" cy="905256"/>
          </a:xfrm>
          <a:prstGeom prst="rect">
            <a:avLst/>
          </a:prstGeom>
        </p:spPr>
      </p:pic>
      <p:sp>
        <p:nvSpPr>
          <p:cNvPr id="3" name="Text 0"/>
          <p:cNvSpPr/>
          <p:nvPr/>
        </p:nvSpPr>
        <p:spPr>
          <a:xfrm>
            <a:off x="4270248" y="6446520"/>
            <a:ext cx="3657600" cy="274320"/>
          </a:xfrm>
          <a:prstGeom prst="rect">
            <a:avLst/>
          </a:prstGeom>
          <a:noFill/>
          <a:ln/>
        </p:spPr>
        <p:txBody>
          <a:bodyPr wrap="square" lIns="0" tIns="0" rIns="0" bIns="0" rtlCol="0" anchor="ctr"/>
          <a:lstStyle/>
          <a:p>
            <a:pPr algn="ctr" indent="0" marL="0">
              <a:buNone/>
            </a:pPr>
            <a:r>
              <a:rPr lang="en-US" sz="1200" dirty="0">
                <a:solidFill>
                  <a:srgbClr val="1F3864"/>
                </a:solidFill>
                <a:latin typeface="Aptos" pitchFamily="34" charset="0"/>
                <a:ea typeface="Aptos" pitchFamily="34" charset="-122"/>
                <a:cs typeface="Aptos" pitchFamily="34" charset="-120"/>
              </a:rPr>
              <a:t>@HSC submission- Template</a:t>
            </a:r>
            <a:endParaRPr lang="en-US" sz="1200" dirty="0"/>
          </a:p>
        </p:txBody>
      </p:sp>
      <p:sp>
        <p:nvSpPr>
          <p:cNvPr id="4" name="Text 1"/>
          <p:cNvSpPr/>
          <p:nvPr>
            <p:ph idx="102" type="title" hasCustomPrompt="1"/>
          </p:nvPr>
        </p:nvSpPr>
        <p:spPr>
          <a:xfrm>
            <a:off x="2011680" y="457200"/>
            <a:ext cx="7772400" cy="685800"/>
          </a:xfrm>
          <a:prstGeom prst="rect">
            <a:avLst/>
          </a:prstGeom>
          <a:noFill/>
          <a:ln/>
        </p:spPr>
        <p:txBody>
          <a:bodyPr wrap="square" rtlCol="0"/>
          <a:lstStyle>
            <a:lvl1pPr algn="ctr" indent="0" marL="0">
              <a:buNone/>
              <a:defRPr lang="en-US" sz="3000" b="1" dirty="0">
                <a:solidFill>
                  <a:srgbClr val="1F4E8C"/>
                </a:solidFill>
                <a:latin typeface="Aptos" pitchFamily="34" charset="0"/>
                <a:ea typeface="Aptos" pitchFamily="34" charset="-122"/>
                <a:cs typeface="Aptos"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430000" y="644652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latin typeface="Aptos"/>
                <a:ea typeface="Aptos"/>
                <a:cs typeface="Apto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C:\Users\DELL\Hackathons\YatraKavach\docs\pitch\img\hsc-logo.jpg">    </p:cNvPr>
          <p:cNvPicPr>
            <a:picLocks noChangeAspect="1"/>
          </p:cNvPicPr>
          <p:nvPr/>
        </p:nvPicPr>
        <p:blipFill>
          <a:blip r:embed="rId1"/>
          <a:stretch>
            <a:fillRect/>
          </a:stretch>
        </p:blipFill>
        <p:spPr>
          <a:xfrm>
            <a:off x="9921240" y="137160"/>
            <a:ext cx="1828800" cy="905256"/>
          </a:xfrm>
          <a:prstGeom prst="rect">
            <a:avLst/>
          </a:prstGeom>
        </p:spPr>
      </p:pic>
      <p:sp>
        <p:nvSpPr>
          <p:cNvPr id="3" name="Text 0"/>
          <p:cNvSpPr/>
          <p:nvPr/>
        </p:nvSpPr>
        <p:spPr>
          <a:xfrm>
            <a:off x="4270248" y="6446520"/>
            <a:ext cx="3657600" cy="274320"/>
          </a:xfrm>
          <a:prstGeom prst="rect">
            <a:avLst/>
          </a:prstGeom>
          <a:noFill/>
          <a:ln/>
        </p:spPr>
        <p:txBody>
          <a:bodyPr wrap="square" lIns="0" tIns="0" rIns="0" bIns="0" rtlCol="0" anchor="ctr"/>
          <a:lstStyle/>
          <a:p>
            <a:pPr algn="ctr" indent="0" marL="0">
              <a:buNone/>
            </a:pPr>
            <a:r>
              <a:rPr lang="en-US" sz="1200" dirty="0">
                <a:solidFill>
                  <a:srgbClr val="1F3864"/>
                </a:solidFill>
                <a:latin typeface="Aptos" pitchFamily="34" charset="0"/>
                <a:ea typeface="Aptos" pitchFamily="34" charset="-122"/>
                <a:cs typeface="Aptos" pitchFamily="34" charset="-120"/>
              </a:rPr>
              <a:t>@HSC submission- Template</a:t>
            </a:r>
            <a:endParaRPr lang="en-US" sz="1200" dirty="0"/>
          </a:p>
        </p:txBody>
      </p:sp>
      <p:sp>
        <p:nvSpPr>
          <p:cNvPr id="4" name="Text 1"/>
          <p:cNvSpPr/>
          <p:nvPr>
            <p:ph idx="102" type="title" hasCustomPrompt="1"/>
          </p:nvPr>
        </p:nvSpPr>
        <p:spPr>
          <a:xfrm>
            <a:off x="2011680" y="457200"/>
            <a:ext cx="7772400" cy="685800"/>
          </a:xfrm>
          <a:prstGeom prst="rect">
            <a:avLst/>
          </a:prstGeom>
          <a:noFill/>
          <a:ln/>
        </p:spPr>
        <p:txBody>
          <a:bodyPr wrap="square" rtlCol="0"/>
          <a:lstStyle>
            <a:lvl1pPr algn="ctr" indent="0" marL="0">
              <a:buNone/>
              <a:defRPr lang="en-US" sz="3000" b="1" dirty="0">
                <a:solidFill>
                  <a:srgbClr val="1F4E8C"/>
                </a:solidFill>
                <a:latin typeface="Aptos" pitchFamily="34" charset="0"/>
                <a:ea typeface="Aptos" pitchFamily="34" charset="-122"/>
                <a:cs typeface="Aptos"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430000" y="644652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latin typeface="Aptos"/>
                <a:ea typeface="Aptos"/>
                <a:cs typeface="Aptos"/>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4652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latin typeface="Aptos"/>
                <a:ea typeface="Aptos"/>
                <a:cs typeface="Apto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RitikBhardwaj-programmer/YatraKavach" TargetMode="External"/><Relationship Id="rId5" Type="http://schemas.openxmlformats.org/officeDocument/2006/relationships/hyperlink" Target="https://github.com/RitikBhardwaj-programmer/YatraKavach/blob/main/docs/pitch/JK_kavach_Video.mp4"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onmanorama.com/news/india/2022/07/09/amarnath-flash-floods-not-caused-by-cloudburst-imd.html" TargetMode="External"/><Relationship Id="rId2" Type="http://schemas.openxmlformats.org/officeDocument/2006/relationships/hyperlink" Target="https://www.moes.gov.in/sites/default/files/RS-in-English-1300-28-07-2022.pdf" TargetMode="External"/><Relationship Id="rId3" Type="http://schemas.openxmlformats.org/officeDocument/2006/relationships/hyperlink" Target="https://www.etvbharat.com/en/!bharat/kishtwar-cloudburst-exposes-laxity-in-response-to-weather-warnings-in-jammu-kashmir-enn25082003499" TargetMode="External"/><Relationship Id="rId4" Type="http://schemas.openxmlformats.org/officeDocument/2006/relationships/hyperlink" Target="https://www.tribuneindia.com/news/j-k/no-lapses-vaishno-devi-board-calls-landslip-tragedy-unforeseeable" TargetMode="External"/><Relationship Id="rId5" Type="http://schemas.openxmlformats.org/officeDocument/2006/relationships/hyperlink" Target="https://www.tribuneindia.com/news/j-k/deadline-over-vaishno-devi-landslip-probe-report-not-out-yet" TargetMode="External"/><Relationship Id="rId6" Type="http://schemas.openxmlformats.org/officeDocument/2006/relationships/hyperlink" Target="https://www.tribuneindia.com/news/j-k/vaishno-devi-shrine-sets-up-dedicated-network-of-over-700-cameras-for-e-surveillance-474077" TargetMode="External"/><Relationship Id="rId7" Type="http://schemas.openxmlformats.org/officeDocument/2006/relationships/hyperlink" Target="https://www.business-standard.com/india-news/gsi-plans-to-use-ai-to-develop-robust-landslide-forecasting-model-dg-125072000196_1.html" TargetMode="External"/><Relationship Id="rId8" Type="http://schemas.openxmlformats.org/officeDocument/2006/relationships/hyperlink" Target="https://www.etvbharat.com/en/bharat/ndma-tests-cell-broadcast-message-to-alert-citizens-on-severe-disaster-enn26050201915" TargetMode="External"/><Relationship Id="rId9" Type="http://schemas.openxmlformats.org/officeDocument/2006/relationships/hyperlink" Target="https://www.itu.int/wftp3/Public/t/fl/itu-t/x/x1303bis/2014/CAP-1-2.html" TargetMode="External"/><Relationship Id="rId10" Type="http://schemas.openxmlformats.org/officeDocument/2006/relationships/hyperlink" Target="https://wmo.int/resources/wmo-bulletin/wmo-bulletin-vol-72-1-2023/overview-of-early-warnings-all-executive-action-plan-2023-2027" TargetMode="External"/><Relationship Id="rId11" Type="http://schemas.openxmlformats.org/officeDocument/2006/relationships/hyperlink" Target="https://ideas.repec.org/a/spr/nathaz/v120y2024i2d10.1007_s11069-023-06254-w.html" TargetMode="External"/><Relationship Id="rId12" Type="http://schemas.openxmlformats.org/officeDocument/2006/relationships/hyperlink" Target="https://dpnet.org.np/uploads/files/rainfall%20threshold2008%202021-09-17%2006-39-49.pdf" TargetMode="External"/><Relationship Id="rId13" Type="http://schemas.openxmlformats.org/officeDocument/2006/relationships/hyperlink" Target="https://gkstill.com/Support/crowd-flow/fruin/Fruin1.html" TargetMode="External"/><Relationship Id="rId14" Type="http://schemas.openxmlformats.org/officeDocument/2006/relationships/hyperlink" Target="https://arxiv.org/abs/physics/0701203" TargetMode="External"/><Relationship Id="rId15" Type="http://schemas.openxmlformats.org/officeDocument/2006/relationships/hyperlink" Target="https://github.com/cvlab-stonybrook/DM-Count" TargetMode="External"/><Relationship Id="rId16" Type="http://schemas.openxmlformats.org/officeDocument/2006/relationships/hyperlink" Target="https://www.openstreetmap.org/copyright" TargetMode="External"/><Relationship Id="rId17" Type="http://schemas.openxmlformats.org/officeDocument/2006/relationships/hyperlink" Target="https://open-meteo.com/en/docs/historical-forecast-api" TargetMode="External"/><Relationship Id="rId18" Type="http://schemas.openxmlformats.org/officeDocument/2006/relationships/hyperlink" Target="https://github.com/RitikBhardwaj-programmer/YatraKavach" TargetMode="External"/><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2011680" y="457200"/>
            <a:ext cx="7772400" cy="685800"/>
          </a:xfrm>
          <a:prstGeom prst="rect">
            <a:avLst/>
          </a:prstGeom>
          <a:noFill/>
          <a:ln/>
        </p:spPr>
        <p:txBody>
          <a:bodyPr wrap="square" lIns="0" tIns="0" rIns="0" bIns="0" rtlCol="0" anchor="ctr"/>
          <a:lstStyle/>
          <a:p>
            <a:pPr algn="ctr" indent="0" marL="0">
              <a:buNone/>
            </a:pPr>
            <a:r>
              <a:rPr lang="en-US" sz="3000" b="1" dirty="0">
                <a:solidFill>
                  <a:srgbClr val="1F4E8C"/>
                </a:solidFill>
                <a:latin typeface="Aptos" pitchFamily="34" charset="0"/>
                <a:ea typeface="Aptos" pitchFamily="34" charset="-122"/>
                <a:cs typeface="Aptos" pitchFamily="34" charset="-120"/>
              </a:rPr>
              <a:t>Cover Page</a:t>
            </a:r>
            <a:endParaRPr lang="en-US" sz="3000" dirty="0"/>
          </a:p>
        </p:txBody>
      </p:sp>
      <p:sp>
        <p:nvSpPr>
          <p:cNvPr id="3" name="cover-dot-1"/>
          <p:cNvSpPr/>
          <p:nvPr/>
        </p:nvSpPr>
        <p:spPr>
          <a:xfrm>
            <a:off x="685800" y="1572768"/>
            <a:ext cx="128016" cy="128016"/>
          </a:xfrm>
          <a:prstGeom prst="ellipse">
            <a:avLst/>
          </a:prstGeom>
          <a:solidFill>
            <a:srgbClr val="1F4E8C"/>
          </a:solidFill>
          <a:ln w="12700">
            <a:solidFill>
              <a:srgbClr val="1F4E8C"/>
            </a:solidFill>
            <a:prstDash val="solid"/>
          </a:ln>
        </p:spPr>
      </p:sp>
      <p:sp>
        <p:nvSpPr>
          <p:cNvPr id="4" name="Text 2"/>
          <p:cNvSpPr txBox="1"/>
          <p:nvPr/>
        </p:nvSpPr>
        <p:spPr>
          <a:xfrm>
            <a:off x="1005840" y="1463040"/>
            <a:ext cx="10515600" cy="347472"/>
          </a:xfrm>
          <a:prstGeom prst="rect">
            <a:avLst/>
          </a:prstGeom>
          <a:noFill/>
          <a:ln/>
        </p:spPr>
        <p:txBody>
          <a:bodyPr wrap="square" lIns="0" tIns="0" rIns="0" bIns="0" rtlCol="0" anchor="t"/>
          <a:lstStyle/>
          <a:p>
            <a:pPr indent="0" marL="0">
              <a:buNone/>
            </a:pPr>
            <a:r>
              <a:rPr lang="en-US" sz="1800" b="1" dirty="0">
                <a:solidFill>
                  <a:srgbClr val="1F4E8C"/>
                </a:solidFill>
                <a:latin typeface="Aptos" pitchFamily="34" charset="0"/>
                <a:ea typeface="Aptos" pitchFamily="34" charset="-122"/>
                <a:cs typeface="Aptos" pitchFamily="34" charset="-120"/>
              </a:rPr>
              <a:t>Problem Statement/Concept Title</a:t>
            </a:r>
            <a:endParaRPr lang="en-US" sz="1800" dirty="0"/>
          </a:p>
        </p:txBody>
      </p:sp>
      <p:sp>
        <p:nvSpPr>
          <p:cNvPr id="5" name="Text 3"/>
          <p:cNvSpPr txBox="1"/>
          <p:nvPr/>
        </p:nvSpPr>
        <p:spPr>
          <a:xfrm>
            <a:off x="1005840" y="1828800"/>
            <a:ext cx="10515600" cy="384048"/>
          </a:xfrm>
          <a:prstGeom prst="rect">
            <a:avLst/>
          </a:prstGeom>
          <a:noFill/>
          <a:ln/>
        </p:spPr>
        <p:txBody>
          <a:bodyPr wrap="square" lIns="0" tIns="0" rIns="0" bIns="0" rtlCol="0" anchor="t"/>
          <a:lstStyle/>
          <a:p>
            <a:pPr indent="0" marL="0">
              <a:buNone/>
            </a:pPr>
            <a:r>
              <a:rPr lang="en-US" sz="1800" dirty="0">
                <a:solidFill>
                  <a:srgbClr val="1F2937"/>
                </a:solidFill>
                <a:latin typeface="Aptos" pitchFamily="34" charset="0"/>
                <a:ea typeface="Aptos" pitchFamily="34" charset="-122"/>
                <a:cs typeface="Aptos" pitchFamily="34" charset="-120"/>
              </a:rPr>
              <a:t>YatraKavach: landslide and crowd risk early warning for the Vaishno Devi pilgrim route</a:t>
            </a:r>
            <a:endParaRPr lang="en-US" sz="1800" dirty="0"/>
          </a:p>
        </p:txBody>
      </p:sp>
      <p:sp>
        <p:nvSpPr>
          <p:cNvPr id="6" name="cover-dot-2"/>
          <p:cNvSpPr/>
          <p:nvPr/>
        </p:nvSpPr>
        <p:spPr>
          <a:xfrm>
            <a:off x="685800" y="2441448"/>
            <a:ext cx="128016" cy="128016"/>
          </a:xfrm>
          <a:prstGeom prst="ellipse">
            <a:avLst/>
          </a:prstGeom>
          <a:solidFill>
            <a:srgbClr val="1F4E8C"/>
          </a:solidFill>
          <a:ln w="12700">
            <a:solidFill>
              <a:srgbClr val="1F4E8C"/>
            </a:solidFill>
            <a:prstDash val="solid"/>
          </a:ln>
        </p:spPr>
      </p:sp>
      <p:sp>
        <p:nvSpPr>
          <p:cNvPr id="7" name="Text 5"/>
          <p:cNvSpPr txBox="1"/>
          <p:nvPr/>
        </p:nvSpPr>
        <p:spPr>
          <a:xfrm>
            <a:off x="1005840" y="2331720"/>
            <a:ext cx="10515600" cy="347472"/>
          </a:xfrm>
          <a:prstGeom prst="rect">
            <a:avLst/>
          </a:prstGeom>
          <a:noFill/>
          <a:ln/>
        </p:spPr>
        <p:txBody>
          <a:bodyPr wrap="square" lIns="0" tIns="0" rIns="0" bIns="0" rtlCol="0" anchor="t"/>
          <a:lstStyle/>
          <a:p>
            <a:pPr indent="0" marL="0">
              <a:buNone/>
            </a:pPr>
            <a:r>
              <a:rPr lang="en-US" sz="1800" b="1" dirty="0">
                <a:solidFill>
                  <a:srgbClr val="1F4E8C"/>
                </a:solidFill>
                <a:latin typeface="Aptos" pitchFamily="34" charset="0"/>
                <a:ea typeface="Aptos" pitchFamily="34" charset="-122"/>
                <a:cs typeface="Aptos" pitchFamily="34" charset="-120"/>
              </a:rPr>
              <a:t>Theme</a:t>
            </a:r>
            <a:endParaRPr lang="en-US" sz="1800" dirty="0"/>
          </a:p>
        </p:txBody>
      </p:sp>
      <p:sp>
        <p:nvSpPr>
          <p:cNvPr id="8" name="Text 6"/>
          <p:cNvSpPr txBox="1"/>
          <p:nvPr/>
        </p:nvSpPr>
        <p:spPr>
          <a:xfrm>
            <a:off x="1005840" y="2697480"/>
            <a:ext cx="10515600" cy="384048"/>
          </a:xfrm>
          <a:prstGeom prst="rect">
            <a:avLst/>
          </a:prstGeom>
          <a:noFill/>
          <a:ln/>
        </p:spPr>
        <p:txBody>
          <a:bodyPr wrap="square" lIns="0" tIns="0" rIns="0" bIns="0" rtlCol="0" anchor="t"/>
          <a:lstStyle/>
          <a:p>
            <a:pPr indent="0" marL="0">
              <a:buNone/>
            </a:pPr>
            <a:r>
              <a:rPr lang="en-US" sz="1800" dirty="0">
                <a:solidFill>
                  <a:srgbClr val="1F2937"/>
                </a:solidFill>
                <a:latin typeface="Aptos" pitchFamily="34" charset="0"/>
                <a:ea typeface="Aptos" pitchFamily="34" charset="-122"/>
                <a:cs typeface="Aptos" pitchFamily="34" charset="-120"/>
              </a:rPr>
              <a:t>Theme 11: Disaster Mitigation &amp; Resilience</a:t>
            </a:r>
            <a:endParaRPr lang="en-US" sz="1800" dirty="0"/>
          </a:p>
        </p:txBody>
      </p:sp>
      <p:sp>
        <p:nvSpPr>
          <p:cNvPr id="9" name="cover-dot-3"/>
          <p:cNvSpPr/>
          <p:nvPr/>
        </p:nvSpPr>
        <p:spPr>
          <a:xfrm>
            <a:off x="685800" y="3310128"/>
            <a:ext cx="128016" cy="128016"/>
          </a:xfrm>
          <a:prstGeom prst="ellipse">
            <a:avLst/>
          </a:prstGeom>
          <a:solidFill>
            <a:srgbClr val="1F4E8C"/>
          </a:solidFill>
          <a:ln w="12700">
            <a:solidFill>
              <a:srgbClr val="1F4E8C"/>
            </a:solidFill>
            <a:prstDash val="solid"/>
          </a:ln>
        </p:spPr>
      </p:sp>
      <p:sp>
        <p:nvSpPr>
          <p:cNvPr id="10" name="Text 8"/>
          <p:cNvSpPr txBox="1"/>
          <p:nvPr/>
        </p:nvSpPr>
        <p:spPr>
          <a:xfrm>
            <a:off x="1005840" y="3200400"/>
            <a:ext cx="10515600" cy="347472"/>
          </a:xfrm>
          <a:prstGeom prst="rect">
            <a:avLst/>
          </a:prstGeom>
          <a:noFill/>
          <a:ln/>
        </p:spPr>
        <p:txBody>
          <a:bodyPr wrap="square" lIns="0" tIns="0" rIns="0" bIns="0" rtlCol="0" anchor="t"/>
          <a:lstStyle/>
          <a:p>
            <a:pPr indent="0" marL="0">
              <a:buNone/>
            </a:pPr>
            <a:r>
              <a:rPr lang="en-US" sz="1800" b="1" dirty="0">
                <a:solidFill>
                  <a:srgbClr val="1F4E8C"/>
                </a:solidFill>
                <a:latin typeface="Aptos" pitchFamily="34" charset="0"/>
                <a:ea typeface="Aptos" pitchFamily="34" charset="-122"/>
                <a:cs typeface="Aptos" pitchFamily="34" charset="-120"/>
              </a:rPr>
              <a:t>Team Name (Registered on portal)</a:t>
            </a:r>
            <a:endParaRPr lang="en-US" sz="1800" dirty="0"/>
          </a:p>
        </p:txBody>
      </p:sp>
      <p:sp>
        <p:nvSpPr>
          <p:cNvPr id="11" name="Text 9"/>
          <p:cNvSpPr txBox="1"/>
          <p:nvPr/>
        </p:nvSpPr>
        <p:spPr>
          <a:xfrm>
            <a:off x="1005840" y="3566160"/>
            <a:ext cx="10515600" cy="384048"/>
          </a:xfrm>
          <a:prstGeom prst="rect">
            <a:avLst/>
          </a:prstGeom>
          <a:noFill/>
          <a:ln/>
        </p:spPr>
        <p:txBody>
          <a:bodyPr wrap="square" lIns="0" tIns="0" rIns="0" bIns="0" rtlCol="0" anchor="t"/>
          <a:lstStyle/>
          <a:p>
            <a:pPr indent="0" marL="0">
              <a:buNone/>
            </a:pPr>
            <a:r>
              <a:rPr lang="en-US" sz="1800" dirty="0">
                <a:solidFill>
                  <a:srgbClr val="1F2937"/>
                </a:solidFill>
                <a:latin typeface="Aptos" pitchFamily="34" charset="0"/>
                <a:ea typeface="Aptos" pitchFamily="34" charset="-122"/>
                <a:cs typeface="Aptos" pitchFamily="34" charset="-120"/>
              </a:rPr>
              <a:t>kavach</a:t>
            </a:r>
            <a:endParaRPr lang="en-US" sz="1800" dirty="0"/>
          </a:p>
        </p:txBody>
      </p:sp>
      <p:sp>
        <p:nvSpPr>
          <p:cNvPr id="12" name="cover-dot-4"/>
          <p:cNvSpPr/>
          <p:nvPr/>
        </p:nvSpPr>
        <p:spPr>
          <a:xfrm>
            <a:off x="685800" y="4178808"/>
            <a:ext cx="128016" cy="128016"/>
          </a:xfrm>
          <a:prstGeom prst="ellipse">
            <a:avLst/>
          </a:prstGeom>
          <a:solidFill>
            <a:srgbClr val="1F4E8C"/>
          </a:solidFill>
          <a:ln w="12700">
            <a:solidFill>
              <a:srgbClr val="1F4E8C"/>
            </a:solidFill>
            <a:prstDash val="solid"/>
          </a:ln>
        </p:spPr>
      </p:sp>
      <p:sp>
        <p:nvSpPr>
          <p:cNvPr id="13" name="Text 11"/>
          <p:cNvSpPr txBox="1"/>
          <p:nvPr/>
        </p:nvSpPr>
        <p:spPr>
          <a:xfrm>
            <a:off x="1005840" y="4069080"/>
            <a:ext cx="10515600" cy="347472"/>
          </a:xfrm>
          <a:prstGeom prst="rect">
            <a:avLst/>
          </a:prstGeom>
          <a:noFill/>
          <a:ln/>
        </p:spPr>
        <p:txBody>
          <a:bodyPr wrap="square" lIns="0" tIns="0" rIns="0" bIns="0" rtlCol="0" anchor="t"/>
          <a:lstStyle/>
          <a:p>
            <a:pPr indent="0" marL="0">
              <a:buNone/>
            </a:pPr>
            <a:r>
              <a:rPr lang="en-US" sz="1800" b="1" dirty="0">
                <a:solidFill>
                  <a:srgbClr val="1F4E8C"/>
                </a:solidFill>
                <a:latin typeface="Aptos" pitchFamily="34" charset="0"/>
                <a:ea typeface="Aptos" pitchFamily="34" charset="-122"/>
                <a:cs typeface="Aptos" pitchFamily="34" charset="-120"/>
              </a:rPr>
              <a:t>Team ID(Registered on portal)</a:t>
            </a:r>
            <a:endParaRPr lang="en-US" sz="1800" dirty="0"/>
          </a:p>
        </p:txBody>
      </p:sp>
      <p:sp>
        <p:nvSpPr>
          <p:cNvPr id="14" name="Text 12"/>
          <p:cNvSpPr txBox="1"/>
          <p:nvPr/>
        </p:nvSpPr>
        <p:spPr>
          <a:xfrm>
            <a:off x="1005840" y="4434840"/>
            <a:ext cx="10515600" cy="384048"/>
          </a:xfrm>
          <a:prstGeom prst="rect">
            <a:avLst/>
          </a:prstGeom>
          <a:noFill/>
          <a:ln/>
        </p:spPr>
        <p:txBody>
          <a:bodyPr wrap="square" lIns="0" tIns="0" rIns="0" bIns="0" rtlCol="0" anchor="t"/>
          <a:lstStyle/>
          <a:p>
            <a:pPr indent="0" marL="0">
              <a:buNone/>
            </a:pPr>
            <a:r>
              <a:rPr lang="en-US" sz="1800" dirty="0">
                <a:solidFill>
                  <a:srgbClr val="1F2937"/>
                </a:solidFill>
                <a:latin typeface="Aptos" pitchFamily="34" charset="0"/>
                <a:ea typeface="Aptos" pitchFamily="34" charset="-122"/>
                <a:cs typeface="Aptos" pitchFamily="34" charset="-120"/>
              </a:rPr>
              <a:t>HSC|JK|00032</a:t>
            </a:r>
            <a:endParaRPr lang="en-US" sz="1800" dirty="0"/>
          </a:p>
        </p:txBody>
      </p:sp>
      <p:sp>
        <p:nvSpPr>
          <p:cNvPr id="15" name="cover-dot-5"/>
          <p:cNvSpPr/>
          <p:nvPr/>
        </p:nvSpPr>
        <p:spPr>
          <a:xfrm>
            <a:off x="685800" y="5047488"/>
            <a:ext cx="128016" cy="128016"/>
          </a:xfrm>
          <a:prstGeom prst="ellipse">
            <a:avLst/>
          </a:prstGeom>
          <a:solidFill>
            <a:srgbClr val="1F4E8C"/>
          </a:solidFill>
          <a:ln w="12700">
            <a:solidFill>
              <a:srgbClr val="1F4E8C"/>
            </a:solidFill>
            <a:prstDash val="solid"/>
          </a:ln>
        </p:spPr>
      </p:sp>
      <p:sp>
        <p:nvSpPr>
          <p:cNvPr id="16" name="Text 14"/>
          <p:cNvSpPr txBox="1"/>
          <p:nvPr/>
        </p:nvSpPr>
        <p:spPr>
          <a:xfrm>
            <a:off x="1005840" y="4937760"/>
            <a:ext cx="10515600" cy="347472"/>
          </a:xfrm>
          <a:prstGeom prst="rect">
            <a:avLst/>
          </a:prstGeom>
          <a:noFill/>
          <a:ln/>
        </p:spPr>
        <p:txBody>
          <a:bodyPr wrap="square" lIns="0" tIns="0" rIns="0" bIns="0" rtlCol="0" anchor="t"/>
          <a:lstStyle/>
          <a:p>
            <a:pPr indent="0" marL="0">
              <a:buNone/>
            </a:pPr>
            <a:r>
              <a:rPr lang="en-US" sz="1800" b="1" dirty="0">
                <a:solidFill>
                  <a:srgbClr val="1F4E8C"/>
                </a:solidFill>
                <a:latin typeface="Aptos" pitchFamily="34" charset="0"/>
                <a:ea typeface="Aptos" pitchFamily="34" charset="-122"/>
                <a:cs typeface="Aptos" pitchFamily="34" charset="-120"/>
              </a:rPr>
              <a:t>State/UT</a:t>
            </a:r>
            <a:endParaRPr lang="en-US" sz="1800" dirty="0"/>
          </a:p>
        </p:txBody>
      </p:sp>
      <p:sp>
        <p:nvSpPr>
          <p:cNvPr id="17" name="Text 15"/>
          <p:cNvSpPr txBox="1"/>
          <p:nvPr/>
        </p:nvSpPr>
        <p:spPr>
          <a:xfrm>
            <a:off x="1005840" y="5303520"/>
            <a:ext cx="10515600" cy="384048"/>
          </a:xfrm>
          <a:prstGeom prst="rect">
            <a:avLst/>
          </a:prstGeom>
          <a:noFill/>
          <a:ln/>
        </p:spPr>
        <p:txBody>
          <a:bodyPr wrap="square" lIns="0" tIns="0" rIns="0" bIns="0" rtlCol="0" anchor="t"/>
          <a:lstStyle/>
          <a:p>
            <a:pPr indent="0" marL="0">
              <a:buNone/>
            </a:pPr>
            <a:r>
              <a:rPr lang="en-US" sz="1800" dirty="0">
                <a:solidFill>
                  <a:srgbClr val="1F2937"/>
                </a:solidFill>
                <a:latin typeface="Aptos" pitchFamily="34" charset="0"/>
                <a:ea typeface="Aptos" pitchFamily="34" charset="-122"/>
                <a:cs typeface="Aptos" pitchFamily="34" charset="-120"/>
              </a:rPr>
              <a:t>Jammu &amp; Kashmir</a:t>
            </a:r>
            <a:endParaRPr lang="en-US" sz="1800" dirty="0"/>
          </a:p>
        </p:txBody>
      </p:sp>
      <p:sp>
        <p:nvSpPr>
          <p:cNvPr id="18" name="Text 16"/>
          <p:cNvSpPr txBox="1"/>
          <p:nvPr/>
        </p:nvSpPr>
        <p:spPr>
          <a:xfrm>
            <a:off x="1005840" y="5852160"/>
            <a:ext cx="10515600" cy="411480"/>
          </a:xfrm>
          <a:prstGeom prst="rect">
            <a:avLst/>
          </a:prstGeom>
          <a:noFill/>
          <a:ln/>
        </p:spPr>
        <p:txBody>
          <a:bodyPr wrap="square" lIns="0" tIns="0" rIns="0" bIns="0" rtlCol="0" anchor="t"/>
          <a:lstStyle/>
          <a:p>
            <a:pPr indent="0" marL="0">
              <a:buNone/>
            </a:pPr>
            <a:r>
              <a:rPr lang="en-US" sz="1600" i="1" dirty="0">
                <a:solidFill>
                  <a:srgbClr val="C62828"/>
                </a:solidFill>
                <a:latin typeface="Aptos" pitchFamily="34" charset="0"/>
                <a:ea typeface="Aptos" pitchFamily="34" charset="-122"/>
                <a:cs typeface="Aptos" pitchFamily="34" charset="-120"/>
              </a:rPr>
              <a:t>The warning existed. The decision did not.</a:t>
            </a:r>
            <a:endParaRPr lang="en-US" sz="1600" dirty="0"/>
          </a:p>
        </p:txBody>
      </p:sp>
      <p:sp>
        <p:nvSpPr>
          <p:cNvPr id="25" name="Slide Number Placeholder 0"/>
          <p:cNvSpPr>
            <a:spLocks noGrp="1"/>
          </p:cNvSpPr>
          <p:nvPr>
            <p:ph type="sldNum" sz="quarter" idx="4294967295"/>
          </p:nvPr>
        </p:nvSpPr>
        <p:spPr>
          <a:xfrm>
            <a:off x="11430000" y="644652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latin typeface="Aptos"/>
                <a:ea typeface="Aptos"/>
                <a:cs typeface="Apto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2011680" y="457200"/>
            <a:ext cx="7772400" cy="685800"/>
          </a:xfrm>
          <a:prstGeom prst="rect">
            <a:avLst/>
          </a:prstGeom>
          <a:noFill/>
          <a:ln/>
        </p:spPr>
        <p:txBody>
          <a:bodyPr wrap="square" lIns="0" tIns="0" rIns="0" bIns="0" rtlCol="0" anchor="ctr"/>
          <a:lstStyle/>
          <a:p>
            <a:pPr algn="ctr" indent="0" marL="0">
              <a:buNone/>
            </a:pPr>
            <a:r>
              <a:rPr lang="en-US" sz="3000" b="1" dirty="0">
                <a:solidFill>
                  <a:srgbClr val="1F4E8C"/>
                </a:solidFill>
                <a:latin typeface="Aptos" pitchFamily="34" charset="0"/>
                <a:ea typeface="Aptos" pitchFamily="34" charset="-122"/>
                <a:cs typeface="Aptos" pitchFamily="34" charset="-120"/>
              </a:rPr>
              <a:t>Problem – Proposed Solution</a:t>
            </a:r>
            <a:endParaRPr lang="en-US" sz="3000" dirty="0"/>
          </a:p>
        </p:txBody>
      </p:sp>
      <p:sp>
        <p:nvSpPr>
          <p:cNvPr id="3" name="Text 1"/>
          <p:cNvSpPr/>
          <p:nvPr/>
        </p:nvSpPr>
        <p:spPr>
          <a:xfrm>
            <a:off x="182880" y="137160"/>
            <a:ext cx="1581912" cy="868680"/>
          </a:xfrm>
          <a:prstGeom prst="ellipse">
            <a:avLst/>
          </a:prstGeom>
          <a:solidFill>
            <a:srgbClr val="F8CBAD"/>
          </a:solidFill>
          <a:ln w="12700">
            <a:solidFill>
              <a:srgbClr val="F4B183"/>
            </a:solidFill>
          </a:ln>
          <a:effectLst>
            <a:outerShdw sx="100000" sy="100000" kx="0" ky="0" algn="bl" rotWithShape="0" blurRad="38100" dist="25400" dir="5400000">
              <a:srgbClr val="808080">
                <a:alpha val="40000"/>
              </a:srgbClr>
            </a:outerShdw>
          </a:effectLst>
        </p:spPr>
        <p:txBody>
          <a:bodyPr wrap="square" lIns="0" tIns="0" rIns="0" bIns="0" rtlCol="0" anchor="ctr"/>
          <a:lstStyle/>
          <a:p>
            <a:pPr algn="ctr" indent="0" marL="0">
              <a:buNone/>
            </a:pPr>
            <a:r>
              <a:rPr lang="en-US" sz="1800" dirty="0">
                <a:solidFill>
                  <a:srgbClr val="000000"/>
                </a:solidFill>
                <a:latin typeface="Aptos" pitchFamily="34" charset="0"/>
                <a:ea typeface="Aptos" pitchFamily="34" charset="-122"/>
                <a:cs typeface="Aptos" pitchFamily="34" charset="-120"/>
              </a:rPr>
              <a:t>kavach</a:t>
            </a:r>
            <a:endParaRPr lang="en-US" sz="1800" dirty="0"/>
          </a:p>
        </p:txBody>
      </p:sp>
      <p:sp>
        <p:nvSpPr>
          <p:cNvPr id="4" name="Text 2"/>
          <p:cNvSpPr txBox="1"/>
          <p:nvPr/>
        </p:nvSpPr>
        <p:spPr>
          <a:xfrm>
            <a:off x="457200" y="1188720"/>
            <a:ext cx="5486400" cy="292608"/>
          </a:xfrm>
          <a:prstGeom prst="rect">
            <a:avLst/>
          </a:prstGeom>
          <a:noFill/>
          <a:ln/>
        </p:spPr>
        <p:txBody>
          <a:bodyPr wrap="square" lIns="0" tIns="0" rIns="0" bIns="0" rtlCol="0" anchor="t"/>
          <a:lstStyle/>
          <a:p>
            <a:pPr indent="0" marL="0">
              <a:buNone/>
            </a:pPr>
            <a:r>
              <a:rPr lang="en-US" sz="1500" b="1" dirty="0">
                <a:solidFill>
                  <a:srgbClr val="1F4E8C"/>
                </a:solidFill>
                <a:latin typeface="Aptos" pitchFamily="34" charset="0"/>
                <a:ea typeface="Aptos" pitchFamily="34" charset="-122"/>
                <a:cs typeface="Aptos" pitchFamily="34" charset="-120"/>
              </a:rPr>
              <a:t>Core problem</a:t>
            </a:r>
            <a:endParaRPr lang="en-US" sz="1500" dirty="0"/>
          </a:p>
        </p:txBody>
      </p:sp>
      <p:sp>
        <p:nvSpPr>
          <p:cNvPr id="5" name="event-1"/>
          <p:cNvSpPr/>
          <p:nvPr/>
        </p:nvSpPr>
        <p:spPr>
          <a:xfrm>
            <a:off x="457200" y="1508760"/>
            <a:ext cx="3630168" cy="1097280"/>
          </a:xfrm>
          <a:prstGeom prst="roundRect">
            <a:avLst>
              <a:gd name="adj" fmla="val 5000"/>
            </a:avLst>
          </a:prstGeom>
          <a:solidFill>
            <a:srgbClr val="F1F4F8"/>
          </a:solidFill>
          <a:ln w="12700">
            <a:solidFill>
              <a:srgbClr val="F1F4F8"/>
            </a:solidFill>
            <a:prstDash val="solid"/>
          </a:ln>
        </p:spPr>
      </p:sp>
      <p:sp>
        <p:nvSpPr>
          <p:cNvPr id="6" name="Text 4"/>
          <p:cNvSpPr txBox="1"/>
          <p:nvPr/>
        </p:nvSpPr>
        <p:spPr>
          <a:xfrm>
            <a:off x="594360" y="1600200"/>
            <a:ext cx="3355848" cy="914400"/>
          </a:xfrm>
          <a:prstGeom prst="rect">
            <a:avLst/>
          </a:prstGeom>
          <a:noFill/>
          <a:ln/>
        </p:spPr>
        <p:txBody>
          <a:bodyPr wrap="square" lIns="0" tIns="0" rIns="0" bIns="0" rtlCol="0" anchor="t"/>
          <a:lstStyle/>
          <a:p>
            <a:pPr indent="0" marL="0">
              <a:buNone/>
            </a:pPr>
            <a:r>
              <a:rPr lang="en-US" sz="1300" b="1" dirty="0">
                <a:solidFill>
                  <a:srgbClr val="C62828"/>
                </a:solidFill>
                <a:latin typeface="Aptos" pitchFamily="34" charset="0"/>
                <a:ea typeface="Aptos" pitchFamily="34" charset="-122"/>
                <a:cs typeface="Aptos" pitchFamily="34" charset="-120"/>
              </a:rPr>
              <a:t>8 Jul 2022  </a:t>
            </a:r>
            <a:pPr indent="0" marL="0">
              <a:buNone/>
            </a:pPr>
            <a:r>
              <a:rPr lang="en-US" sz="1300" b="1" dirty="0">
                <a:solidFill>
                  <a:srgbClr val="1F4E8C"/>
                </a:solidFill>
                <a:latin typeface="Aptos" pitchFamily="34" charset="0"/>
                <a:ea typeface="Aptos" pitchFamily="34" charset="-122"/>
                <a:cs typeface="Aptos" pitchFamily="34" charset="-120"/>
              </a:rPr>
              <a:t>Amarnath cave</a:t>
            </a:r>
            <a:endParaRPr lang="en-US" sz="1300" dirty="0"/>
          </a:p>
          <a:p>
            <a:pPr indent="0" marL="0">
              <a:buNone/>
            </a:pPr>
            <a:r>
              <a:rPr lang="en-US" sz="1200" dirty="0">
                <a:solidFill>
                  <a:srgbClr val="1F2937"/>
                </a:solidFill>
                <a:latin typeface="Aptos" pitchFamily="34" charset="0"/>
                <a:ea typeface="Aptos" pitchFamily="34" charset="-122"/>
                <a:cs typeface="Aptos" pitchFamily="34" charset="-120"/>
              </a:rPr>
              <a:t>Flash flood. No rain data from the upper reaches.</a:t>
            </a:r>
            <a:endParaRPr lang="en-US" sz="1300" dirty="0"/>
          </a:p>
        </p:txBody>
      </p:sp>
      <p:sp>
        <p:nvSpPr>
          <p:cNvPr id="7" name="event-2"/>
          <p:cNvSpPr/>
          <p:nvPr/>
        </p:nvSpPr>
        <p:spPr>
          <a:xfrm>
            <a:off x="4279392" y="1508760"/>
            <a:ext cx="3630168" cy="1097280"/>
          </a:xfrm>
          <a:prstGeom prst="roundRect">
            <a:avLst>
              <a:gd name="adj" fmla="val 5000"/>
            </a:avLst>
          </a:prstGeom>
          <a:solidFill>
            <a:srgbClr val="F1F4F8"/>
          </a:solidFill>
          <a:ln w="12700">
            <a:solidFill>
              <a:srgbClr val="F1F4F8"/>
            </a:solidFill>
            <a:prstDash val="solid"/>
          </a:ln>
        </p:spPr>
      </p:sp>
      <p:sp>
        <p:nvSpPr>
          <p:cNvPr id="8" name="Text 6"/>
          <p:cNvSpPr txBox="1"/>
          <p:nvPr/>
        </p:nvSpPr>
        <p:spPr>
          <a:xfrm>
            <a:off x="4416552" y="1600200"/>
            <a:ext cx="3355848" cy="914400"/>
          </a:xfrm>
          <a:prstGeom prst="rect">
            <a:avLst/>
          </a:prstGeom>
          <a:noFill/>
          <a:ln/>
        </p:spPr>
        <p:txBody>
          <a:bodyPr wrap="square" lIns="0" tIns="0" rIns="0" bIns="0" rtlCol="0" anchor="t"/>
          <a:lstStyle/>
          <a:p>
            <a:pPr indent="0" marL="0">
              <a:buNone/>
            </a:pPr>
            <a:r>
              <a:rPr lang="en-US" sz="1300" b="1" dirty="0">
                <a:solidFill>
                  <a:srgbClr val="C62828"/>
                </a:solidFill>
                <a:latin typeface="Aptos" pitchFamily="34" charset="0"/>
                <a:ea typeface="Aptos" pitchFamily="34" charset="-122"/>
                <a:cs typeface="Aptos" pitchFamily="34" charset="-120"/>
              </a:rPr>
              <a:t>14 Aug 2025  </a:t>
            </a:r>
            <a:pPr indent="0" marL="0">
              <a:buNone/>
            </a:pPr>
            <a:r>
              <a:rPr lang="en-US" sz="1300" b="1" dirty="0">
                <a:solidFill>
                  <a:srgbClr val="1F4E8C"/>
                </a:solidFill>
                <a:latin typeface="Aptos" pitchFamily="34" charset="0"/>
                <a:ea typeface="Aptos" pitchFamily="34" charset="-122"/>
                <a:cs typeface="Aptos" pitchFamily="34" charset="-120"/>
              </a:rPr>
              <a:t>Chasoti, Machail yatra</a:t>
            </a:r>
            <a:endParaRPr lang="en-US" sz="1300" dirty="0"/>
          </a:p>
          <a:p>
            <a:pPr indent="0" marL="0">
              <a:buNone/>
            </a:pPr>
            <a:r>
              <a:rPr lang="en-US" sz="1200" dirty="0">
                <a:solidFill>
                  <a:srgbClr val="1F2937"/>
                </a:solidFill>
                <a:latin typeface="Aptos" pitchFamily="34" charset="0"/>
                <a:ea typeface="Aptos" pitchFamily="34" charset="-122"/>
                <a:cs typeface="Aptos" pitchFamily="34" charset="-120"/>
              </a:rPr>
              <a:t>IMD alerts for the region; the yatra went on. About 61–64 dead.</a:t>
            </a:r>
            <a:endParaRPr lang="en-US" sz="1300" dirty="0"/>
          </a:p>
        </p:txBody>
      </p:sp>
      <p:sp>
        <p:nvSpPr>
          <p:cNvPr id="9" name="event-3"/>
          <p:cNvSpPr/>
          <p:nvPr/>
        </p:nvSpPr>
        <p:spPr>
          <a:xfrm>
            <a:off x="8101584" y="1508760"/>
            <a:ext cx="3630168" cy="1097280"/>
          </a:xfrm>
          <a:prstGeom prst="roundRect">
            <a:avLst>
              <a:gd name="adj" fmla="val 5000"/>
            </a:avLst>
          </a:prstGeom>
          <a:solidFill>
            <a:srgbClr val="F1F4F8"/>
          </a:solidFill>
          <a:ln w="12700">
            <a:solidFill>
              <a:srgbClr val="F1F4F8"/>
            </a:solidFill>
            <a:prstDash val="solid"/>
          </a:ln>
        </p:spPr>
      </p:sp>
      <p:sp>
        <p:nvSpPr>
          <p:cNvPr id="10" name="Text 8"/>
          <p:cNvSpPr txBox="1"/>
          <p:nvPr/>
        </p:nvSpPr>
        <p:spPr>
          <a:xfrm>
            <a:off x="8238744" y="1600200"/>
            <a:ext cx="3355848" cy="914400"/>
          </a:xfrm>
          <a:prstGeom prst="rect">
            <a:avLst/>
          </a:prstGeom>
          <a:noFill/>
          <a:ln/>
        </p:spPr>
        <p:txBody>
          <a:bodyPr wrap="square" lIns="0" tIns="0" rIns="0" bIns="0" rtlCol="0" anchor="t"/>
          <a:lstStyle/>
          <a:p>
            <a:pPr indent="0" marL="0">
              <a:buNone/>
            </a:pPr>
            <a:r>
              <a:rPr lang="en-US" sz="1300" b="1" dirty="0">
                <a:solidFill>
                  <a:srgbClr val="C62828"/>
                </a:solidFill>
                <a:latin typeface="Aptos" pitchFamily="34" charset="0"/>
                <a:ea typeface="Aptos" pitchFamily="34" charset="-122"/>
                <a:cs typeface="Aptos" pitchFamily="34" charset="-120"/>
              </a:rPr>
              <a:t>26 Aug 2025  </a:t>
            </a:r>
            <a:pPr indent="0" marL="0">
              <a:buNone/>
            </a:pPr>
            <a:r>
              <a:rPr lang="en-US" sz="1300" b="1" dirty="0">
                <a:solidFill>
                  <a:srgbClr val="1F4E8C"/>
                </a:solidFill>
                <a:latin typeface="Aptos" pitchFamily="34" charset="0"/>
                <a:ea typeface="Aptos" pitchFamily="34" charset="-122"/>
                <a:cs typeface="Aptos" pitchFamily="34" charset="-120"/>
              </a:rPr>
              <a:t>Adhkuwari, Vaishno Devi</a:t>
            </a:r>
            <a:endParaRPr lang="en-US" sz="1300" dirty="0"/>
          </a:p>
          <a:p>
            <a:pPr indent="0" marL="0">
              <a:buNone/>
            </a:pPr>
            <a:r>
              <a:rPr lang="en-US" sz="1200" dirty="0">
                <a:solidFill>
                  <a:srgbClr val="1F2937"/>
                </a:solidFill>
                <a:latin typeface="Aptos" pitchFamily="34" charset="0"/>
                <a:ea typeface="Aptos" pitchFamily="34" charset="-122"/>
                <a:cs typeface="Aptos" pitchFamily="34" charset="-120"/>
              </a:rPr>
              <a:t>Landslide at 14:40; at least 34 dead. Old track closed by ~12:00.</a:t>
            </a:r>
            <a:endParaRPr lang="en-US" sz="1300" dirty="0"/>
          </a:p>
        </p:txBody>
      </p:sp>
      <p:sp>
        <p:nvSpPr>
          <p:cNvPr id="11" name="Text 9"/>
          <p:cNvSpPr txBox="1"/>
          <p:nvPr/>
        </p:nvSpPr>
        <p:spPr>
          <a:xfrm>
            <a:off x="457200" y="2697480"/>
            <a:ext cx="11274552" cy="548640"/>
          </a:xfrm>
          <a:prstGeom prst="rect">
            <a:avLst/>
          </a:prstGeom>
          <a:noFill/>
          <a:ln/>
        </p:spPr>
        <p:txBody>
          <a:bodyPr wrap="square" lIns="0" tIns="0" rIns="0" bIns="0" rtlCol="0" anchor="t"/>
          <a:lstStyle/>
          <a:p>
            <a:pPr indent="0" marL="0">
              <a:buNone/>
            </a:pPr>
            <a:r>
              <a:rPr lang="en-US" sz="1300" b="1" dirty="0">
                <a:solidFill>
                  <a:srgbClr val="1F4E8C"/>
                </a:solidFill>
                <a:latin typeface="Aptos" pitchFamily="34" charset="0"/>
                <a:ea typeface="Aptos" pitchFamily="34" charset="-122"/>
                <a:cs typeface="Aptos" pitchFamily="34" charset="-120"/>
              </a:rPr>
              <a:t>Each time, a warning reached some official. </a:t>
            </a:r>
            <a:pPr indent="0" marL="0">
              <a:buNone/>
            </a:pPr>
            <a:r>
              <a:rPr lang="en-US" sz="1300" dirty="0">
                <a:solidFill>
                  <a:srgbClr val="1F2937"/>
                </a:solidFill>
                <a:latin typeface="Aptos" pitchFamily="34" charset="0"/>
                <a:ea typeface="Aptos" pitchFamily="34" charset="-122"/>
                <a:cs typeface="Aptos" pitchFamily="34" charset="-120"/>
              </a:rPr>
              <a:t>Nobody turned it into “close this 500 m stretch, move these people, now”, and nobody can show who decided. Forecasts are district-scale; crowd systems (RFID, CCTV) have no hazard input.</a:t>
            </a:r>
            <a:endParaRPr lang="en-US" sz="1300" dirty="0"/>
          </a:p>
        </p:txBody>
      </p:sp>
      <p:sp>
        <p:nvSpPr>
          <p:cNvPr id="12" name="Text 10"/>
          <p:cNvSpPr txBox="1"/>
          <p:nvPr/>
        </p:nvSpPr>
        <p:spPr>
          <a:xfrm>
            <a:off x="457200" y="3291840"/>
            <a:ext cx="5486400" cy="292608"/>
          </a:xfrm>
          <a:prstGeom prst="rect">
            <a:avLst/>
          </a:prstGeom>
          <a:noFill/>
          <a:ln/>
        </p:spPr>
        <p:txBody>
          <a:bodyPr wrap="square" lIns="0" tIns="0" rIns="0" bIns="0" rtlCol="0" anchor="t"/>
          <a:lstStyle/>
          <a:p>
            <a:pPr indent="0" marL="0">
              <a:buNone/>
            </a:pPr>
            <a:r>
              <a:rPr lang="en-US" sz="1500" b="1" dirty="0">
                <a:solidFill>
                  <a:srgbClr val="1F4E8C"/>
                </a:solidFill>
                <a:latin typeface="Aptos" pitchFamily="34" charset="0"/>
                <a:ea typeface="Aptos" pitchFamily="34" charset="-122"/>
                <a:cs typeface="Aptos" pitchFamily="34" charset="-120"/>
              </a:rPr>
              <a:t>Proposed solution: YatraKavach</a:t>
            </a:r>
            <a:endParaRPr lang="en-US" sz="1500" dirty="0"/>
          </a:p>
        </p:txBody>
      </p:sp>
      <p:sp>
        <p:nvSpPr>
          <p:cNvPr id="13" name="flow-1"/>
          <p:cNvSpPr/>
          <p:nvPr/>
        </p:nvSpPr>
        <p:spPr>
          <a:xfrm>
            <a:off x="457200" y="3611880"/>
            <a:ext cx="1865376" cy="548640"/>
          </a:xfrm>
          <a:prstGeom prst="homePlate">
            <a:avLst/>
          </a:prstGeom>
          <a:solidFill>
            <a:srgbClr val="1F4E8C"/>
          </a:solidFill>
          <a:ln w="12700">
            <a:solidFill>
              <a:srgbClr val="FFFFFF"/>
            </a:solidFill>
            <a:prstDash val="solid"/>
          </a:ln>
        </p:spPr>
      </p:sp>
      <p:sp>
        <p:nvSpPr>
          <p:cNvPr id="14" name="Text 12"/>
          <p:cNvSpPr txBox="1"/>
          <p:nvPr/>
        </p:nvSpPr>
        <p:spPr>
          <a:xfrm>
            <a:off x="548640" y="3611880"/>
            <a:ext cx="1481328"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Rain + slope</a:t>
            </a:r>
            <a:endParaRPr lang="en-US" sz="1200" dirty="0"/>
          </a:p>
        </p:txBody>
      </p:sp>
      <p:sp>
        <p:nvSpPr>
          <p:cNvPr id="15" name="flow-2"/>
          <p:cNvSpPr/>
          <p:nvPr/>
        </p:nvSpPr>
        <p:spPr>
          <a:xfrm>
            <a:off x="2362810" y="3611880"/>
            <a:ext cx="1865376" cy="548640"/>
          </a:xfrm>
          <a:prstGeom prst="chevron">
            <a:avLst/>
          </a:prstGeom>
          <a:solidFill>
            <a:srgbClr val="1F4E8C"/>
          </a:solidFill>
          <a:ln w="12700">
            <a:solidFill>
              <a:srgbClr val="FFFFFF"/>
            </a:solidFill>
            <a:prstDash val="solid"/>
          </a:ln>
        </p:spPr>
      </p:sp>
      <p:sp>
        <p:nvSpPr>
          <p:cNvPr id="16" name="Text 14"/>
          <p:cNvSpPr txBox="1"/>
          <p:nvPr/>
        </p:nvSpPr>
        <p:spPr>
          <a:xfrm>
            <a:off x="2728570" y="3611880"/>
            <a:ext cx="1298448"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Segment hazard</a:t>
            </a:r>
            <a:endParaRPr lang="en-US" sz="1200" dirty="0"/>
          </a:p>
        </p:txBody>
      </p:sp>
      <p:sp>
        <p:nvSpPr>
          <p:cNvPr id="17" name="flow-3"/>
          <p:cNvSpPr/>
          <p:nvPr/>
        </p:nvSpPr>
        <p:spPr>
          <a:xfrm>
            <a:off x="4268419" y="3611880"/>
            <a:ext cx="1865376" cy="548640"/>
          </a:xfrm>
          <a:prstGeom prst="chevron">
            <a:avLst/>
          </a:prstGeom>
          <a:solidFill>
            <a:srgbClr val="1F4E8C"/>
          </a:solidFill>
          <a:ln w="12700">
            <a:solidFill>
              <a:srgbClr val="FFFFFF"/>
            </a:solidFill>
            <a:prstDash val="solid"/>
          </a:ln>
        </p:spPr>
      </p:sp>
      <p:sp>
        <p:nvSpPr>
          <p:cNvPr id="18" name="Text 16"/>
          <p:cNvSpPr txBox="1"/>
          <p:nvPr/>
        </p:nvSpPr>
        <p:spPr>
          <a:xfrm>
            <a:off x="4634179" y="3611880"/>
            <a:ext cx="1298448"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 people on segment</a:t>
            </a:r>
            <a:endParaRPr lang="en-US" sz="1200" dirty="0"/>
          </a:p>
        </p:txBody>
      </p:sp>
      <p:sp>
        <p:nvSpPr>
          <p:cNvPr id="19" name="flow-4"/>
          <p:cNvSpPr/>
          <p:nvPr/>
        </p:nvSpPr>
        <p:spPr>
          <a:xfrm>
            <a:off x="6174029" y="3611880"/>
            <a:ext cx="1865376" cy="548640"/>
          </a:xfrm>
          <a:prstGeom prst="chevron">
            <a:avLst/>
          </a:prstGeom>
          <a:solidFill>
            <a:srgbClr val="1F4E8C"/>
          </a:solidFill>
          <a:ln w="12700">
            <a:solidFill>
              <a:srgbClr val="FFFFFF"/>
            </a:solidFill>
            <a:prstDash val="solid"/>
          </a:ln>
        </p:spPr>
      </p:sp>
      <p:sp>
        <p:nvSpPr>
          <p:cNvPr id="20" name="Text 18"/>
          <p:cNvSpPr txBox="1"/>
          <p:nvPr/>
        </p:nvSpPr>
        <p:spPr>
          <a:xfrm>
            <a:off x="6539789" y="3611880"/>
            <a:ext cx="1298448"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Proposed action</a:t>
            </a:r>
            <a:endParaRPr lang="en-US" sz="1200" dirty="0"/>
          </a:p>
        </p:txBody>
      </p:sp>
      <p:sp>
        <p:nvSpPr>
          <p:cNvPr id="21" name="flow-5"/>
          <p:cNvSpPr/>
          <p:nvPr/>
        </p:nvSpPr>
        <p:spPr>
          <a:xfrm>
            <a:off x="8079638" y="3611880"/>
            <a:ext cx="1865376" cy="548640"/>
          </a:xfrm>
          <a:prstGeom prst="chevron">
            <a:avLst/>
          </a:prstGeom>
          <a:solidFill>
            <a:srgbClr val="C62828"/>
          </a:solidFill>
          <a:ln w="12700">
            <a:solidFill>
              <a:srgbClr val="FFFFFF"/>
            </a:solidFill>
            <a:prstDash val="solid"/>
          </a:ln>
        </p:spPr>
      </p:sp>
      <p:sp>
        <p:nvSpPr>
          <p:cNvPr id="22" name="Text 20"/>
          <p:cNvSpPr txBox="1"/>
          <p:nvPr/>
        </p:nvSpPr>
        <p:spPr>
          <a:xfrm>
            <a:off x="8445398" y="3611880"/>
            <a:ext cx="1298448"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Officer approves</a:t>
            </a:r>
            <a:endParaRPr lang="en-US" sz="1200" dirty="0"/>
          </a:p>
        </p:txBody>
      </p:sp>
      <p:sp>
        <p:nvSpPr>
          <p:cNvPr id="23" name="flow-6"/>
          <p:cNvSpPr/>
          <p:nvPr/>
        </p:nvSpPr>
        <p:spPr>
          <a:xfrm>
            <a:off x="9985248" y="3611880"/>
            <a:ext cx="1865376" cy="548640"/>
          </a:xfrm>
          <a:prstGeom prst="chevron">
            <a:avLst/>
          </a:prstGeom>
          <a:solidFill>
            <a:srgbClr val="C62828"/>
          </a:solidFill>
          <a:ln w="12700">
            <a:solidFill>
              <a:srgbClr val="FFFFFF"/>
            </a:solidFill>
            <a:prstDash val="solid"/>
          </a:ln>
        </p:spPr>
      </p:sp>
      <p:sp>
        <p:nvSpPr>
          <p:cNvPr id="24" name="Text 22"/>
          <p:cNvSpPr txBox="1"/>
          <p:nvPr/>
        </p:nvSpPr>
        <p:spPr>
          <a:xfrm>
            <a:off x="10351008" y="3611880"/>
            <a:ext cx="1298448"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CAP alert (en/hi/ur)</a:t>
            </a:r>
            <a:endParaRPr lang="en-US" sz="1200" dirty="0"/>
          </a:p>
        </p:txBody>
      </p:sp>
      <p:sp>
        <p:nvSpPr>
          <p:cNvPr id="25" name="Text 23"/>
          <p:cNvSpPr txBox="1"/>
          <p:nvPr/>
        </p:nvSpPr>
        <p:spPr>
          <a:xfrm>
            <a:off x="457200" y="4343400"/>
            <a:ext cx="3630168" cy="457200"/>
          </a:xfrm>
          <a:prstGeom prst="rect">
            <a:avLst/>
          </a:prstGeom>
          <a:noFill/>
          <a:ln/>
        </p:spPr>
        <p:txBody>
          <a:bodyPr wrap="square" lIns="0" tIns="0" rIns="0" bIns="0" rtlCol="0" anchor="t"/>
          <a:lstStyle/>
          <a:p>
            <a:pPr indent="0" marL="0">
              <a:buNone/>
            </a:pPr>
            <a:r>
              <a:rPr lang="en-US" sz="1300" b="1" dirty="0">
                <a:solidFill>
                  <a:srgbClr val="1F4E8C"/>
                </a:solidFill>
                <a:latin typeface="Aptos" pitchFamily="34" charset="0"/>
                <a:ea typeface="Aptos" pitchFamily="34" charset="-122"/>
                <a:cs typeface="Aptos" pitchFamily="34" charset="-120"/>
              </a:rPr>
              <a:t>Detailed explanation of the proposed solution</a:t>
            </a:r>
            <a:endParaRPr lang="en-US" sz="1300" dirty="0"/>
          </a:p>
        </p:txBody>
      </p:sp>
      <p:sp>
        <p:nvSpPr>
          <p:cNvPr id="26" name="Text 24"/>
          <p:cNvSpPr txBox="1"/>
          <p:nvPr/>
        </p:nvSpPr>
        <p:spPr>
          <a:xfrm>
            <a:off x="457200" y="4800600"/>
            <a:ext cx="3630168" cy="141732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1F2937"/>
                </a:solidFill>
                <a:latin typeface="Aptos" pitchFamily="34" charset="0"/>
                <a:ea typeface="Aptos" pitchFamily="34" charset="-122"/>
                <a:cs typeface="Aptos" pitchFamily="34" charset="-120"/>
              </a:rPr>
              <a:t>35 segments (~500 m) on the three Vaishno Devi tracks.</a:t>
            </a:r>
            <a:endParaRPr lang="en-US" sz="1200" dirty="0"/>
          </a:p>
          <a:p>
            <a:pPr marL="152400" indent="-152400">
              <a:spcAft>
                <a:spcPts val="300"/>
              </a:spcAft>
              <a:buSzPct val="100000"/>
              <a:buChar char="•"/>
            </a:pPr>
            <a:r>
              <a:rPr lang="en-US" sz="1200" dirty="0">
                <a:solidFill>
                  <a:srgbClr val="1F2937"/>
                </a:solidFill>
                <a:latin typeface="Aptos" pitchFamily="34" charset="0"/>
                <a:ea typeface="Aptos" pitchFamily="34" charset="-122"/>
                <a:cs typeface="Aptos" pitchFamily="34" charset="-120"/>
              </a:rPr>
              <a:t>Hourly landslide hazard from 3 h, 24 h and 15-day rain against published Himalayan thresholds, stepped up on steep slopes.</a:t>
            </a:r>
            <a:endParaRPr lang="en-US" sz="1200" dirty="0"/>
          </a:p>
          <a:p>
            <a:pPr marL="152400" indent="-152400">
              <a:spcAft>
                <a:spcPts val="300"/>
              </a:spcAft>
              <a:buSzPct val="100000"/>
              <a:buChar char="•"/>
            </a:pPr>
            <a:r>
              <a:rPr lang="en-US" sz="1200" dirty="0">
                <a:solidFill>
                  <a:srgbClr val="1F2937"/>
                </a:solidFill>
                <a:latin typeface="Aptos" pitchFamily="34" charset="0"/>
                <a:ea typeface="Aptos" pitchFamily="34" charset="-122"/>
                <a:cs typeface="Aptos" pitchFamily="34" charset="-120"/>
              </a:rPr>
              <a:t>People per segment (SIMULATED RFID) and an AI crowd count from a camera frame (DM-Count).</a:t>
            </a:r>
            <a:endParaRPr lang="en-US" sz="1200" dirty="0"/>
          </a:p>
        </p:txBody>
      </p:sp>
      <p:sp>
        <p:nvSpPr>
          <p:cNvPr id="27" name="Text 25"/>
          <p:cNvSpPr txBox="1"/>
          <p:nvPr/>
        </p:nvSpPr>
        <p:spPr>
          <a:xfrm>
            <a:off x="4279392" y="4343400"/>
            <a:ext cx="3630168" cy="457200"/>
          </a:xfrm>
          <a:prstGeom prst="rect">
            <a:avLst/>
          </a:prstGeom>
          <a:noFill/>
          <a:ln/>
        </p:spPr>
        <p:txBody>
          <a:bodyPr wrap="square" lIns="0" tIns="0" rIns="0" bIns="0" rtlCol="0" anchor="t"/>
          <a:lstStyle/>
          <a:p>
            <a:pPr indent="0" marL="0">
              <a:buNone/>
            </a:pPr>
            <a:r>
              <a:rPr lang="en-US" sz="1300" b="1" dirty="0">
                <a:solidFill>
                  <a:srgbClr val="1F4E8C"/>
                </a:solidFill>
                <a:latin typeface="Aptos" pitchFamily="34" charset="0"/>
                <a:ea typeface="Aptos" pitchFamily="34" charset="-122"/>
                <a:cs typeface="Aptos" pitchFamily="34" charset="-120"/>
              </a:rPr>
              <a:t>How does it address the problem</a:t>
            </a:r>
            <a:endParaRPr lang="en-US" sz="1300" dirty="0"/>
          </a:p>
        </p:txBody>
      </p:sp>
      <p:sp>
        <p:nvSpPr>
          <p:cNvPr id="28" name="Text 26"/>
          <p:cNvSpPr txBox="1"/>
          <p:nvPr/>
        </p:nvSpPr>
        <p:spPr>
          <a:xfrm>
            <a:off x="4279392" y="4800600"/>
            <a:ext cx="3630168" cy="141732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1F2937"/>
                </a:solidFill>
                <a:latin typeface="Aptos" pitchFamily="34" charset="0"/>
                <a:ea typeface="Aptos" pitchFamily="34" charset="-122"/>
                <a:cs typeface="Aptos" pitchFamily="34" charset="-120"/>
              </a:rPr>
              <a:t>Turns a district warning into one proposal per track and level: hold, clear or reopen.</a:t>
            </a:r>
            <a:endParaRPr lang="en-US" sz="1200" dirty="0"/>
          </a:p>
          <a:p>
            <a:pPr marL="152400" indent="-152400">
              <a:spcAft>
                <a:spcPts val="300"/>
              </a:spcAft>
              <a:buSzPct val="100000"/>
              <a:buChar char="•"/>
            </a:pPr>
            <a:r>
              <a:rPr lang="en-US" sz="1200" dirty="0">
                <a:solidFill>
                  <a:srgbClr val="1F2937"/>
                </a:solidFill>
                <a:latin typeface="Aptos" pitchFamily="34" charset="0"/>
                <a:ea typeface="Aptos" pitchFamily="34" charset="-122"/>
                <a:cs typeface="Aptos" pitchFamily="34" charset="-120"/>
              </a:rPr>
              <a:t>A named officer approves; RED needs two officers; escalation after 10 min.</a:t>
            </a:r>
            <a:endParaRPr lang="en-US" sz="1200" dirty="0"/>
          </a:p>
          <a:p>
            <a:pPr marL="152400" indent="-152400">
              <a:spcAft>
                <a:spcPts val="300"/>
              </a:spcAft>
              <a:buSzPct val="100000"/>
              <a:buChar char="•"/>
            </a:pPr>
            <a:r>
              <a:rPr lang="en-US" sz="1200" dirty="0">
                <a:solidFill>
                  <a:srgbClr val="1F2937"/>
                </a:solidFill>
                <a:latin typeface="Aptos" pitchFamily="34" charset="0"/>
                <a:ea typeface="Aptos" pitchFamily="34" charset="-122"/>
                <a:cs typeface="Aptos" pitchFamily="34" charset="-120"/>
              </a:rPr>
              <a:t>Approved alert goes out as CAP 1.2 (the SACHET format) in English, Hindi and Urdu.</a:t>
            </a:r>
            <a:endParaRPr lang="en-US" sz="1200" dirty="0"/>
          </a:p>
        </p:txBody>
      </p:sp>
      <p:sp>
        <p:nvSpPr>
          <p:cNvPr id="29" name="Text 27"/>
          <p:cNvSpPr txBox="1"/>
          <p:nvPr/>
        </p:nvSpPr>
        <p:spPr>
          <a:xfrm>
            <a:off x="8101584" y="4343400"/>
            <a:ext cx="3630168" cy="457200"/>
          </a:xfrm>
          <a:prstGeom prst="rect">
            <a:avLst/>
          </a:prstGeom>
          <a:noFill/>
          <a:ln/>
        </p:spPr>
        <p:txBody>
          <a:bodyPr wrap="square" lIns="0" tIns="0" rIns="0" bIns="0" rtlCol="0" anchor="t"/>
          <a:lstStyle/>
          <a:p>
            <a:pPr indent="0" marL="0">
              <a:buNone/>
            </a:pPr>
            <a:r>
              <a:rPr lang="en-US" sz="1300" b="1" dirty="0">
                <a:solidFill>
                  <a:srgbClr val="1F4E8C"/>
                </a:solidFill>
                <a:latin typeface="Aptos" pitchFamily="34" charset="0"/>
                <a:ea typeface="Aptos" pitchFamily="34" charset="-122"/>
                <a:cs typeface="Aptos" pitchFamily="34" charset="-120"/>
              </a:rPr>
              <a:t>Innovation and uniqueness of the solution</a:t>
            </a:r>
            <a:endParaRPr lang="en-US" sz="1300" dirty="0"/>
          </a:p>
        </p:txBody>
      </p:sp>
      <p:sp>
        <p:nvSpPr>
          <p:cNvPr id="30" name="Text 28"/>
          <p:cNvSpPr txBox="1"/>
          <p:nvPr/>
        </p:nvSpPr>
        <p:spPr>
          <a:xfrm>
            <a:off x="8101584" y="4800600"/>
            <a:ext cx="3630168" cy="141732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1F2937"/>
                </a:solidFill>
                <a:latin typeface="Aptos" pitchFamily="34" charset="0"/>
                <a:ea typeface="Aptos" pitchFamily="34" charset="-122"/>
                <a:cs typeface="Aptos" pitchFamily="34" charset="-120"/>
              </a:rPr>
              <a:t>Segment hazard × people exposed now, not a district bulletin.</a:t>
            </a:r>
            <a:endParaRPr lang="en-US" sz="1200" dirty="0"/>
          </a:p>
          <a:p>
            <a:pPr marL="152400" indent="-152400">
              <a:spcAft>
                <a:spcPts val="300"/>
              </a:spcAft>
              <a:buSzPct val="100000"/>
              <a:buChar char="•"/>
            </a:pPr>
            <a:r>
              <a:rPr lang="en-US" sz="1200" dirty="0">
                <a:solidFill>
                  <a:srgbClr val="1F2937"/>
                </a:solidFill>
                <a:latin typeface="Aptos" pitchFamily="34" charset="0"/>
                <a:ea typeface="Aptos" pitchFamily="34" charset="-122"/>
                <a:cs typeface="Aptos" pitchFamily="34" charset="-120"/>
              </a:rPr>
              <a:t>Models the queue a hold creates: closing a track moves risk to the people below.</a:t>
            </a:r>
            <a:endParaRPr lang="en-US" sz="1200" dirty="0"/>
          </a:p>
          <a:p>
            <a:pPr marL="152400" indent="-152400">
              <a:spcAft>
                <a:spcPts val="300"/>
              </a:spcAft>
              <a:buSzPct val="100000"/>
              <a:buChar char="•"/>
            </a:pPr>
            <a:r>
              <a:rPr lang="en-US" sz="1200" dirty="0">
                <a:solidFill>
                  <a:srgbClr val="1F2937"/>
                </a:solidFill>
                <a:latin typeface="Aptos" pitchFamily="34" charset="0"/>
                <a:ea typeface="Aptos" pitchFamily="34" charset="-122"/>
                <a:cs typeface="Aptos" pitchFamily="34" charset="-120"/>
              </a:rPr>
              <a:t>Hash-chained audit log of who decided what, and when.</a:t>
            </a:r>
            <a:endParaRPr lang="en-US" sz="1200" dirty="0"/>
          </a:p>
        </p:txBody>
      </p:sp>
      <p:sp>
        <p:nvSpPr>
          <p:cNvPr id="31" name="Text 29"/>
          <p:cNvSpPr txBox="1"/>
          <p:nvPr/>
        </p:nvSpPr>
        <p:spPr>
          <a:xfrm>
            <a:off x="457200" y="6217920"/>
            <a:ext cx="8229600" cy="201168"/>
          </a:xfrm>
          <a:prstGeom prst="rect">
            <a:avLst/>
          </a:prstGeom>
          <a:noFill/>
          <a:ln/>
        </p:spPr>
        <p:txBody>
          <a:bodyPr wrap="square" lIns="0" tIns="0" rIns="0" bIns="0" rtlCol="0" anchor="t"/>
          <a:lstStyle/>
          <a:p>
            <a:pPr indent="0" marL="0">
              <a:buNone/>
            </a:pPr>
            <a:r>
              <a:rPr lang="en-US" sz="900" dirty="0">
                <a:solidFill>
                  <a:srgbClr val="5B6472"/>
                </a:solidFill>
                <a:latin typeface="Aptos" pitchFamily="34" charset="0"/>
                <a:ea typeface="Aptos" pitchFamily="34" charset="-122"/>
                <a:cs typeface="Aptos" pitchFamily="34" charset="-120"/>
              </a:rPr>
              <a:t>Sources: Onmanorama, MoES (2022); ETV Bharat (2025); The Tribune (2025). Full list on the References slide.</a:t>
            </a:r>
            <a:endParaRPr lang="en-US" sz="900" dirty="0"/>
          </a:p>
        </p:txBody>
      </p:sp>
      <p:sp>
        <p:nvSpPr>
          <p:cNvPr id="25" name="Slide Number Placeholder 0"/>
          <p:cNvSpPr>
            <a:spLocks noGrp="1"/>
          </p:cNvSpPr>
          <p:nvPr>
            <p:ph type="sldNum" sz="quarter" idx="4294967295"/>
          </p:nvPr>
        </p:nvSpPr>
        <p:spPr>
          <a:xfrm>
            <a:off x="11430000" y="644652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latin typeface="Aptos"/>
                <a:ea typeface="Aptos"/>
                <a:cs typeface="Apto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2011680" y="457200"/>
            <a:ext cx="7772400" cy="685800"/>
          </a:xfrm>
          <a:prstGeom prst="rect">
            <a:avLst/>
          </a:prstGeom>
          <a:noFill/>
          <a:ln/>
        </p:spPr>
        <p:txBody>
          <a:bodyPr wrap="square" lIns="0" tIns="0" rIns="0" bIns="0" rtlCol="0" anchor="ctr"/>
          <a:lstStyle/>
          <a:p>
            <a:pPr algn="ctr" indent="0" marL="0">
              <a:buNone/>
            </a:pPr>
            <a:r>
              <a:rPr lang="en-US" sz="3000" b="1" dirty="0">
                <a:solidFill>
                  <a:srgbClr val="1F4E8C"/>
                </a:solidFill>
                <a:latin typeface="Aptos" pitchFamily="34" charset="0"/>
                <a:ea typeface="Aptos" pitchFamily="34" charset="-122"/>
                <a:cs typeface="Aptos" pitchFamily="34" charset="-120"/>
              </a:rPr>
              <a:t>Technical Approach</a:t>
            </a:r>
            <a:endParaRPr lang="en-US" sz="3000" dirty="0"/>
          </a:p>
        </p:txBody>
      </p:sp>
      <p:sp>
        <p:nvSpPr>
          <p:cNvPr id="3" name="Text 1"/>
          <p:cNvSpPr/>
          <p:nvPr/>
        </p:nvSpPr>
        <p:spPr>
          <a:xfrm>
            <a:off x="182880" y="137160"/>
            <a:ext cx="1581912" cy="868680"/>
          </a:xfrm>
          <a:prstGeom prst="ellipse">
            <a:avLst/>
          </a:prstGeom>
          <a:solidFill>
            <a:srgbClr val="F8CBAD"/>
          </a:solidFill>
          <a:ln w="12700">
            <a:solidFill>
              <a:srgbClr val="F4B183"/>
            </a:solidFill>
          </a:ln>
          <a:effectLst>
            <a:outerShdw sx="100000" sy="100000" kx="0" ky="0" algn="bl" rotWithShape="0" blurRad="38100" dist="25400" dir="5400000">
              <a:srgbClr val="808080">
                <a:alpha val="40000"/>
              </a:srgbClr>
            </a:outerShdw>
          </a:effectLst>
        </p:spPr>
        <p:txBody>
          <a:bodyPr wrap="square" lIns="0" tIns="0" rIns="0" bIns="0" rtlCol="0" anchor="ctr"/>
          <a:lstStyle/>
          <a:p>
            <a:pPr algn="ctr" indent="0" marL="0">
              <a:buNone/>
            </a:pPr>
            <a:r>
              <a:rPr lang="en-US" sz="1800" dirty="0">
                <a:solidFill>
                  <a:srgbClr val="000000"/>
                </a:solidFill>
                <a:latin typeface="Aptos" pitchFamily="34" charset="0"/>
                <a:ea typeface="Aptos" pitchFamily="34" charset="-122"/>
                <a:cs typeface="Aptos" pitchFamily="34" charset="-120"/>
              </a:rPr>
              <a:t>kavach</a:t>
            </a:r>
            <a:endParaRPr lang="en-US" sz="1800" dirty="0"/>
          </a:p>
        </p:txBody>
      </p:sp>
      <p:sp>
        <p:nvSpPr>
          <p:cNvPr id="4" name="Text 2"/>
          <p:cNvSpPr txBox="1"/>
          <p:nvPr/>
        </p:nvSpPr>
        <p:spPr>
          <a:xfrm>
            <a:off x="457200" y="1188720"/>
            <a:ext cx="6766560" cy="292608"/>
          </a:xfrm>
          <a:prstGeom prst="rect">
            <a:avLst/>
          </a:prstGeom>
          <a:noFill/>
          <a:ln/>
        </p:spPr>
        <p:txBody>
          <a:bodyPr wrap="square" lIns="0" tIns="0" rIns="0" bIns="0" rtlCol="0" anchor="t"/>
          <a:lstStyle/>
          <a:p>
            <a:pPr indent="0" marL="0">
              <a:buNone/>
            </a:pPr>
            <a:r>
              <a:rPr lang="en-US" sz="1500" b="1" dirty="0">
                <a:solidFill>
                  <a:srgbClr val="1F4E8C"/>
                </a:solidFill>
                <a:latin typeface="Aptos" pitchFamily="34" charset="0"/>
                <a:ea typeface="Aptos" pitchFamily="34" charset="-122"/>
                <a:cs typeface="Aptos" pitchFamily="34" charset="-120"/>
              </a:rPr>
              <a:t>Technologies used</a:t>
            </a:r>
            <a:endParaRPr lang="en-US" sz="1500" dirty="0"/>
          </a:p>
        </p:txBody>
      </p:sp>
      <p:sp>
        <p:nvSpPr>
          <p:cNvPr id="5" name="Text 3"/>
          <p:cNvSpPr txBox="1"/>
          <p:nvPr/>
        </p:nvSpPr>
        <p:spPr>
          <a:xfrm>
            <a:off x="457200" y="1508760"/>
            <a:ext cx="6766560" cy="1143000"/>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1F2937"/>
                </a:solidFill>
                <a:latin typeface="Aptos" pitchFamily="34" charset="0"/>
                <a:ea typeface="Aptos" pitchFamily="34" charset="-122"/>
                <a:cs typeface="Aptos" pitchFamily="34" charset="-120"/>
              </a:rPr>
              <a:t>Backend: </a:t>
            </a:r>
            <a:pPr indent="0" marL="0">
              <a:buNone/>
            </a:pPr>
            <a:r>
              <a:rPr lang="en-US" sz="1200" dirty="0">
                <a:solidFill>
                  <a:srgbClr val="1F2937"/>
                </a:solidFill>
                <a:latin typeface="Aptos" pitchFamily="34" charset="0"/>
                <a:ea typeface="Aptos" pitchFamily="34" charset="-122"/>
                <a:cs typeface="Aptos" pitchFamily="34" charset="-120"/>
              </a:rPr>
              <a:t>Python 3.12, FastAPI, PostgreSQL 16 + PostGIS 3, pytest (258 tests pass)</a:t>
            </a:r>
            <a:endParaRPr lang="en-US" sz="1200" dirty="0"/>
          </a:p>
          <a:p>
            <a:pPr marL="152400" indent="-152400">
              <a:spcAft>
                <a:spcPts val="300"/>
              </a:spcAft>
              <a:buSzPct val="100000"/>
              <a:buChar char="•"/>
            </a:pPr>
            <a:r>
              <a:rPr lang="en-US" sz="1200" b="1" dirty="0">
                <a:solidFill>
                  <a:srgbClr val="1F2937"/>
                </a:solidFill>
                <a:latin typeface="Aptos" pitchFamily="34" charset="0"/>
                <a:ea typeface="Aptos" pitchFamily="34" charset="-122"/>
                <a:cs typeface="Aptos" pitchFamily="34" charset="-120"/>
              </a:rPr>
              <a:t>Console: </a:t>
            </a:r>
            <a:pPr indent="0" marL="0">
              <a:buNone/>
            </a:pPr>
            <a:r>
              <a:rPr lang="en-US" sz="1200" dirty="0">
                <a:solidFill>
                  <a:srgbClr val="1F2937"/>
                </a:solidFill>
                <a:latin typeface="Aptos" pitchFamily="34" charset="0"/>
                <a:ea typeface="Aptos" pitchFamily="34" charset="-122"/>
                <a:cs typeface="Aptos" pitchFamily="34" charset="-120"/>
              </a:rPr>
              <a:t>MapLibre GL web map, served by the API; Docker Compose to run it all</a:t>
            </a:r>
            <a:endParaRPr lang="en-US" sz="1200" dirty="0"/>
          </a:p>
          <a:p>
            <a:pPr marL="152400" indent="-152400">
              <a:spcAft>
                <a:spcPts val="300"/>
              </a:spcAft>
              <a:buSzPct val="100000"/>
              <a:buChar char="•"/>
            </a:pPr>
            <a:r>
              <a:rPr lang="en-US" sz="1200" b="1" dirty="0">
                <a:solidFill>
                  <a:srgbClr val="1F2937"/>
                </a:solidFill>
                <a:latin typeface="Aptos" pitchFamily="34" charset="0"/>
                <a:ea typeface="Aptos" pitchFamily="34" charset="-122"/>
                <a:cs typeface="Aptos" pitchFamily="34" charset="-120"/>
              </a:rPr>
              <a:t>Data: </a:t>
            </a:r>
            <a:pPr indent="0" marL="0">
              <a:buNone/>
            </a:pPr>
            <a:r>
              <a:rPr lang="en-US" sz="1200" dirty="0">
                <a:solidFill>
                  <a:srgbClr val="1F2937"/>
                </a:solidFill>
                <a:latin typeface="Aptos" pitchFamily="34" charset="0"/>
                <a:ea typeface="Aptos" pitchFamily="34" charset="-122"/>
                <a:cs typeface="Aptos" pitchFamily="34" charset="-120"/>
              </a:rPr>
              <a:t>OpenStreetMap tracks, Copernicus DEM slope, Open-Meteo rain (ECMWF, GFS, ERA5)</a:t>
            </a:r>
            <a:endParaRPr lang="en-US" sz="1200" dirty="0"/>
          </a:p>
          <a:p>
            <a:pPr marL="152400" indent="-152400">
              <a:spcAft>
                <a:spcPts val="300"/>
              </a:spcAft>
              <a:buSzPct val="100000"/>
              <a:buChar char="•"/>
            </a:pPr>
            <a:r>
              <a:rPr lang="en-US" sz="1200" b="1" dirty="0">
                <a:solidFill>
                  <a:srgbClr val="1F2937"/>
                </a:solidFill>
                <a:latin typeface="Aptos" pitchFamily="34" charset="0"/>
                <a:ea typeface="Aptos" pitchFamily="34" charset="-122"/>
                <a:cs typeface="Aptos" pitchFamily="34" charset="-120"/>
              </a:rPr>
              <a:t>AI crowd count: </a:t>
            </a:r>
            <a:pPr indent="0" marL="0">
              <a:buNone/>
            </a:pPr>
            <a:r>
              <a:rPr lang="en-US" sz="1200" dirty="0">
                <a:solidFill>
                  <a:srgbClr val="1F2937"/>
                </a:solidFill>
                <a:latin typeface="Aptos" pitchFamily="34" charset="0"/>
                <a:ea typeface="Aptos" pitchFamily="34" charset="-122"/>
                <a:cs typeface="Aptos" pitchFamily="34" charset="-120"/>
              </a:rPr>
              <a:t>DM-Count (MIT) on ONNX Runtime · Alerts: CAP 1.2 XML</a:t>
            </a:r>
            <a:endParaRPr lang="en-US" sz="1200" dirty="0"/>
          </a:p>
        </p:txBody>
      </p:sp>
      <p:sp>
        <p:nvSpPr>
          <p:cNvPr id="6" name="Text 4"/>
          <p:cNvSpPr txBox="1"/>
          <p:nvPr/>
        </p:nvSpPr>
        <p:spPr>
          <a:xfrm>
            <a:off x="457200" y="2697480"/>
            <a:ext cx="6766560" cy="292608"/>
          </a:xfrm>
          <a:prstGeom prst="rect">
            <a:avLst/>
          </a:prstGeom>
          <a:noFill/>
          <a:ln/>
        </p:spPr>
        <p:txBody>
          <a:bodyPr wrap="square" lIns="0" tIns="0" rIns="0" bIns="0" rtlCol="0" anchor="t"/>
          <a:lstStyle/>
          <a:p>
            <a:pPr indent="0" marL="0">
              <a:buNone/>
            </a:pPr>
            <a:r>
              <a:rPr lang="en-US" sz="1500" b="1" dirty="0">
                <a:solidFill>
                  <a:srgbClr val="1F4E8C"/>
                </a:solidFill>
                <a:latin typeface="Aptos" pitchFamily="34" charset="0"/>
                <a:ea typeface="Aptos" pitchFamily="34" charset="-122"/>
                <a:cs typeface="Aptos" pitchFamily="34" charset="-120"/>
              </a:rPr>
              <a:t>Methodology and process for implementation</a:t>
            </a:r>
            <a:endParaRPr lang="en-US" sz="1500" dirty="0"/>
          </a:p>
        </p:txBody>
      </p:sp>
      <p:pic>
        <p:nvPicPr>
          <p:cNvPr id="7" name="Image 0" descr="Console at 26 Aug 2025 05:00 IST: old track RED with the Why panel">    </p:cNvPr>
          <p:cNvPicPr>
            <a:picLocks noChangeAspect="1"/>
          </p:cNvPicPr>
          <p:nvPr/>
        </p:nvPicPr>
        <p:blipFill>
          <a:blip r:embed="rId1"/>
          <a:stretch>
            <a:fillRect/>
          </a:stretch>
        </p:blipFill>
        <p:spPr>
          <a:xfrm>
            <a:off x="457200" y="3017520"/>
            <a:ext cx="3903345" cy="2194560"/>
          </a:xfrm>
          <a:prstGeom prst="rect">
            <a:avLst/>
          </a:prstGeom>
        </p:spPr>
      </p:pic>
      <p:sp>
        <p:nvSpPr>
          <p:cNvPr id="8" name="frame-1"/>
          <p:cNvSpPr/>
          <p:nvPr/>
        </p:nvSpPr>
        <p:spPr>
          <a:xfrm>
            <a:off x="457200" y="3017520"/>
            <a:ext cx="3903345" cy="2194560"/>
          </a:xfrm>
          <a:prstGeom prst="rect">
            <a:avLst/>
          </a:prstGeom>
          <a:ln w="12700">
            <a:solidFill>
              <a:srgbClr val="D5DBE3"/>
            </a:solidFill>
            <a:prstDash val="solid"/>
          </a:ln>
        </p:spPr>
      </p:sp>
      <p:sp>
        <p:nvSpPr>
          <p:cNvPr id="9" name="Text 6"/>
          <p:cNvSpPr txBox="1"/>
          <p:nvPr/>
        </p:nvSpPr>
        <p:spPr>
          <a:xfrm>
            <a:off x="457200" y="5257800"/>
            <a:ext cx="3903345" cy="365760"/>
          </a:xfrm>
          <a:prstGeom prst="rect">
            <a:avLst/>
          </a:prstGeom>
          <a:noFill/>
          <a:ln/>
        </p:spPr>
        <p:txBody>
          <a:bodyPr wrap="square" lIns="0" tIns="0" rIns="0" bIns="0" rtlCol="0" anchor="t"/>
          <a:lstStyle/>
          <a:p>
            <a:pPr indent="0" marL="0">
              <a:buNone/>
            </a:pPr>
            <a:r>
              <a:rPr lang="en-US" sz="900" dirty="0">
                <a:solidFill>
                  <a:srgbClr val="5B6472"/>
                </a:solidFill>
                <a:latin typeface="Aptos" pitchFamily="34" charset="0"/>
                <a:ea typeface="Aptos" pitchFamily="34" charset="-122"/>
                <a:cs typeface="Aptos" pitchFamily="34" charset="-120"/>
              </a:rPr>
              <a:t>Working prototype: replay at 26 Aug 2025 05:00 IST, old track RED with the reasons in numbers</a:t>
            </a:r>
            <a:endParaRPr lang="en-US" sz="900" dirty="0"/>
          </a:p>
        </p:txBody>
      </p:sp>
      <p:sp>
        <p:nvSpPr>
          <p:cNvPr id="10" name="Text 7"/>
          <p:cNvSpPr txBox="1"/>
          <p:nvPr/>
        </p:nvSpPr>
        <p:spPr>
          <a:xfrm>
            <a:off x="4543425" y="3017520"/>
            <a:ext cx="2680335" cy="2194560"/>
          </a:xfrm>
          <a:prstGeom prst="rect">
            <a:avLst/>
          </a:prstGeom>
          <a:noFill/>
          <a:ln/>
        </p:spPr>
        <p:txBody>
          <a:bodyPr wrap="square" lIns="0" tIns="0" rIns="0" bIns="0" rtlCol="0" anchor="t"/>
          <a:lstStyle/>
          <a:p>
            <a:pPr indent="0" marL="0">
              <a:spcAft>
                <a:spcPts val="800"/>
              </a:spcAft>
              <a:buNone/>
            </a:pPr>
            <a:r>
              <a:rPr lang="en-US" sz="1200" b="1" dirty="0">
                <a:solidFill>
                  <a:srgbClr val="1F4E8C"/>
                </a:solidFill>
                <a:latin typeface="Aptos" pitchFamily="34" charset="0"/>
                <a:ea typeface="Aptos" pitchFamily="34" charset="-122"/>
                <a:cs typeface="Aptos" pitchFamily="34" charset="-120"/>
              </a:rPr>
              <a:t>1  Split tracks into segments (OSM + DEM)</a:t>
            </a:r>
            <a:endParaRPr lang="en-US" sz="1200" dirty="0"/>
          </a:p>
          <a:p>
            <a:pPr indent="0" marL="0">
              <a:spcAft>
                <a:spcPts val="800"/>
              </a:spcAft>
              <a:buNone/>
            </a:pPr>
            <a:r>
              <a:rPr lang="en-US" sz="1200" b="1" dirty="0">
                <a:solidFill>
                  <a:srgbClr val="1F4E8C"/>
                </a:solidFill>
                <a:latin typeface="Aptos" pitchFamily="34" charset="0"/>
                <a:ea typeface="Aptos" pitchFamily="34" charset="-122"/>
                <a:cs typeface="Aptos" pitchFamily="34" charset="-120"/>
              </a:rPr>
              <a:t>2  Score hazard every hour per segment</a:t>
            </a:r>
            <a:endParaRPr lang="en-US" sz="1200" dirty="0"/>
          </a:p>
          <a:p>
            <a:pPr indent="0" marL="0">
              <a:spcAft>
                <a:spcPts val="800"/>
              </a:spcAft>
              <a:buNone/>
            </a:pPr>
            <a:r>
              <a:rPr lang="en-US" sz="1200" b="1" dirty="0">
                <a:solidFill>
                  <a:srgbClr val="1F4E8C"/>
                </a:solidFill>
                <a:latin typeface="Aptos" pitchFamily="34" charset="0"/>
                <a:ea typeface="Aptos" pitchFamily="34" charset="-122"/>
                <a:cs typeface="Aptos" pitchFamily="34" charset="-120"/>
              </a:rPr>
              <a:t>3  Add people on the segment</a:t>
            </a:r>
            <a:endParaRPr lang="en-US" sz="1200" dirty="0"/>
          </a:p>
          <a:p>
            <a:pPr indent="0" marL="0">
              <a:spcAft>
                <a:spcPts val="800"/>
              </a:spcAft>
              <a:buNone/>
            </a:pPr>
            <a:r>
              <a:rPr lang="en-US" sz="1200" b="1" dirty="0">
                <a:solidFill>
                  <a:srgbClr val="1F4E8C"/>
                </a:solidFill>
                <a:latin typeface="Aptos" pitchFamily="34" charset="0"/>
                <a:ea typeface="Aptos" pitchFamily="34" charset="-122"/>
                <a:cs typeface="Aptos" pitchFamily="34" charset="-120"/>
              </a:rPr>
              <a:t>4  Propose → approve → CAP alert</a:t>
            </a:r>
            <a:endParaRPr lang="en-US" sz="1200" dirty="0"/>
          </a:p>
          <a:p>
            <a:pPr indent="0" marL="0">
              <a:spcAft>
                <a:spcPts val="800"/>
              </a:spcAft>
              <a:buNone/>
            </a:pPr>
            <a:r>
              <a:rPr lang="en-US" sz="1200" b="1" dirty="0">
                <a:solidFill>
                  <a:srgbClr val="1F4E8C"/>
                </a:solidFill>
                <a:latin typeface="Aptos" pitchFamily="34" charset="0"/>
                <a:ea typeface="Aptos" pitchFamily="34" charset="-122"/>
                <a:cs typeface="Aptos" pitchFamily="34" charset="-120"/>
              </a:rPr>
              <a:t>5  Validate: replay of 26 Aug 2025</a:t>
            </a:r>
            <a:endParaRPr lang="en-US" sz="1200" dirty="0"/>
          </a:p>
        </p:txBody>
      </p:sp>
      <p:sp>
        <p:nvSpPr>
          <p:cNvPr id="11" name="links"/>
          <p:cNvSpPr/>
          <p:nvPr/>
        </p:nvSpPr>
        <p:spPr>
          <a:xfrm>
            <a:off x="7498080" y="1188720"/>
            <a:ext cx="4233672" cy="1783080"/>
          </a:xfrm>
          <a:prstGeom prst="roundRect">
            <a:avLst>
              <a:gd name="adj" fmla="val 3077"/>
            </a:avLst>
          </a:prstGeom>
          <a:solidFill>
            <a:srgbClr val="F1F4F8"/>
          </a:solidFill>
          <a:ln w="12700">
            <a:solidFill>
              <a:srgbClr val="F1F4F8"/>
            </a:solidFill>
            <a:prstDash val="solid"/>
          </a:ln>
        </p:spPr>
      </p:sp>
      <p:pic>
        <p:nvPicPr>
          <p:cNvPr id="12" name="Image 1" descr="GitHub">    </p:cNvPr>
          <p:cNvPicPr>
            <a:picLocks noChangeAspect="1"/>
          </p:cNvPicPr>
          <p:nvPr/>
        </p:nvPicPr>
        <p:blipFill>
          <a:blip r:embed="rId2"/>
          <a:stretch>
            <a:fillRect/>
          </a:stretch>
        </p:blipFill>
        <p:spPr>
          <a:xfrm>
            <a:off x="7680960" y="1325880"/>
            <a:ext cx="320040" cy="320040"/>
          </a:xfrm>
          <a:prstGeom prst="rect">
            <a:avLst/>
          </a:prstGeom>
        </p:spPr>
      </p:pic>
      <p:sp>
        <p:nvSpPr>
          <p:cNvPr id="13" name="Text 9"/>
          <p:cNvSpPr txBox="1"/>
          <p:nvPr/>
        </p:nvSpPr>
        <p:spPr>
          <a:xfrm>
            <a:off x="8092440" y="1325880"/>
            <a:ext cx="3502152" cy="320040"/>
          </a:xfrm>
          <a:prstGeom prst="rect">
            <a:avLst/>
          </a:prstGeom>
          <a:noFill/>
          <a:ln/>
        </p:spPr>
        <p:txBody>
          <a:bodyPr wrap="square" lIns="0" tIns="0" rIns="0" bIns="0" rtlCol="0" anchor="ctr"/>
          <a:lstStyle/>
          <a:p>
            <a:pPr indent="0" marL="0">
              <a:buNone/>
            </a:pPr>
            <a:r>
              <a:rPr lang="en-US" sz="1400" b="1" dirty="0">
                <a:solidFill>
                  <a:srgbClr val="1F4E8C"/>
                </a:solidFill>
                <a:latin typeface="Aptos" pitchFamily="34" charset="0"/>
                <a:ea typeface="Aptos" pitchFamily="34" charset="-122"/>
                <a:cs typeface="Aptos" pitchFamily="34" charset="-120"/>
              </a:rPr>
              <a:t>Github/Gitlab link</a:t>
            </a:r>
            <a:endParaRPr lang="en-US" sz="1400" dirty="0"/>
          </a:p>
        </p:txBody>
      </p:sp>
      <p:sp>
        <p:nvSpPr>
          <p:cNvPr id="14" name="Text 10"/>
          <p:cNvSpPr txBox="1"/>
          <p:nvPr/>
        </p:nvSpPr>
        <p:spPr>
          <a:xfrm>
            <a:off x="7680960" y="1691640"/>
            <a:ext cx="3959352" cy="274320"/>
          </a:xfrm>
          <a:prstGeom prst="rect">
            <a:avLst/>
          </a:prstGeom>
          <a:noFill/>
          <a:ln/>
        </p:spPr>
        <p:txBody>
          <a:bodyPr wrap="square" lIns="0" tIns="0" rIns="0" bIns="0" rtlCol="0" anchor="t"/>
          <a:lstStyle/>
          <a:p>
            <a:pPr indent="0" marL="0">
              <a:buNone/>
            </a:pPr>
            <a:r>
              <a:rPr lang="en-US" sz="1100" u="sng" dirty="0">
                <a:solidFill>
                  <a:srgbClr val="1F4E8C"/>
                </a:solidFill>
                <a:latin typeface="Aptos" pitchFamily="34" charset="0"/>
                <a:ea typeface="Aptos" pitchFamily="34" charset="-122"/>
                <a:cs typeface="Apto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github.com/RitikBhardwaj-programmer/YatraKavach</a:t>
            </a:r>
            <a:endParaRPr lang="en-US" sz="1100" dirty="0"/>
          </a:p>
        </p:txBody>
      </p:sp>
      <p:pic>
        <p:nvPicPr>
          <p:cNvPr id="15" name="Image 2" descr="Demo video">    </p:cNvPr>
          <p:cNvPicPr>
            <a:picLocks noChangeAspect="1"/>
          </p:cNvPicPr>
          <p:nvPr/>
        </p:nvPicPr>
        <p:blipFill>
          <a:blip r:embed="rId4"/>
          <a:stretch>
            <a:fillRect/>
          </a:stretch>
        </p:blipFill>
        <p:spPr>
          <a:xfrm>
            <a:off x="7680960" y="2057400"/>
            <a:ext cx="320040" cy="320040"/>
          </a:xfrm>
          <a:prstGeom prst="rect">
            <a:avLst/>
          </a:prstGeom>
        </p:spPr>
      </p:pic>
      <p:sp>
        <p:nvSpPr>
          <p:cNvPr id="16" name="Text 11"/>
          <p:cNvSpPr txBox="1"/>
          <p:nvPr/>
        </p:nvSpPr>
        <p:spPr>
          <a:xfrm>
            <a:off x="8092440" y="2057400"/>
            <a:ext cx="3502152" cy="320040"/>
          </a:xfrm>
          <a:prstGeom prst="rect">
            <a:avLst/>
          </a:prstGeom>
          <a:noFill/>
          <a:ln/>
        </p:spPr>
        <p:txBody>
          <a:bodyPr wrap="square" lIns="0" tIns="0" rIns="0" bIns="0" rtlCol="0" anchor="ctr"/>
          <a:lstStyle/>
          <a:p>
            <a:pPr indent="0" marL="0">
              <a:buNone/>
            </a:pPr>
            <a:r>
              <a:rPr lang="en-US" sz="1400" b="1" dirty="0">
                <a:solidFill>
                  <a:srgbClr val="1F4E8C"/>
                </a:solidFill>
                <a:latin typeface="Aptos" pitchFamily="34" charset="0"/>
                <a:ea typeface="Aptos" pitchFamily="34" charset="-122"/>
                <a:cs typeface="Aptos" pitchFamily="34" charset="-120"/>
              </a:rPr>
              <a:t>Demo Video</a:t>
            </a:r>
            <a:endParaRPr lang="en-US" sz="1400" dirty="0"/>
          </a:p>
        </p:txBody>
      </p:sp>
      <p:sp>
        <p:nvSpPr>
          <p:cNvPr id="17" name="Text 12"/>
          <p:cNvSpPr txBox="1"/>
          <p:nvPr/>
        </p:nvSpPr>
        <p:spPr>
          <a:xfrm>
            <a:off x="7680960" y="2395728"/>
            <a:ext cx="3959352" cy="502920"/>
          </a:xfrm>
          <a:prstGeom prst="rect">
            <a:avLst/>
          </a:prstGeom>
          <a:noFill/>
          <a:ln/>
        </p:spPr>
        <p:txBody>
          <a:bodyPr wrap="square" lIns="0" tIns="0" rIns="0" bIns="0" rtlCol="0" anchor="t"/>
          <a:lstStyle/>
          <a:p>
            <a:pPr indent="0" marL="0">
              <a:buNone/>
            </a:pPr>
            <a:r>
              <a:rPr lang="en-US" sz="1100" dirty="0">
                <a:solidFill>
                  <a:srgbClr val="1F2937"/>
                </a:solidFill>
                <a:latin typeface="Aptos" pitchFamily="34" charset="0"/>
                <a:ea typeface="Aptos" pitchFamily="34" charset="-122"/>
                <a:cs typeface="Aptos" pitchFamily="34" charset="-120"/>
              </a:rPr>
              <a:t>JK_kavach_Video.mp4 (4:44), uploaded with this entry; also in the repo: </a:t>
            </a:r>
            <a:pPr indent="0" marL="0">
              <a:buNone/>
            </a:pPr>
            <a:r>
              <a:rPr lang="en-US" sz="1100" u="sng" dirty="0">
                <a:solidFill>
                  <a:srgbClr val="1F4E8C"/>
                </a:solidFill>
                <a:latin typeface="Aptos" pitchFamily="34" charset="0"/>
                <a:ea typeface="Aptos" pitchFamily="34" charset="-122"/>
                <a:cs typeface="Aptos" pitchFamily="34" charset="-120"/>
                <a:hlinkClick r:id="rId5" invalidUrl="" action="" tgtFrame="" tooltip="" history="1" highlightClick="0" endSnd="0">
                  <a:extLst>
                    <a:ext uri="{A12FA001-AC4F-418D-AE19-62706E023703}">
                      <ahyp:hlinkClr xmlns:ahyp="http://schemas.microsoft.com/office/drawing/2018/hyperlinkcolor" val="tx"/>
                    </a:ext>
                  </a:extLst>
                </a:hlinkClick>
              </a:rPr>
              <a:t>docs/pitch/JK_kavach_Video.mp4</a:t>
            </a:r>
            <a:endParaRPr lang="en-US" sz="1100" dirty="0"/>
          </a:p>
        </p:txBody>
      </p:sp>
      <p:sp>
        <p:nvSpPr>
          <p:cNvPr id="18" name="ai-disclosure"/>
          <p:cNvSpPr/>
          <p:nvPr/>
        </p:nvSpPr>
        <p:spPr>
          <a:xfrm>
            <a:off x="7498080" y="3108960"/>
            <a:ext cx="4233672" cy="3017520"/>
          </a:xfrm>
          <a:prstGeom prst="roundRect">
            <a:avLst>
              <a:gd name="adj" fmla="val 1818"/>
            </a:avLst>
          </a:prstGeom>
          <a:solidFill>
            <a:srgbClr val="FFFFFF"/>
          </a:solidFill>
          <a:ln w="19050">
            <a:solidFill>
              <a:srgbClr val="1F4E8C"/>
            </a:solidFill>
            <a:prstDash val="solid"/>
          </a:ln>
        </p:spPr>
      </p:sp>
      <p:pic>
        <p:nvPicPr>
          <p:cNvPr id="19" name="Image 3" descr="AI-use disclosure">    </p:cNvPr>
          <p:cNvPicPr>
            <a:picLocks noChangeAspect="1"/>
          </p:cNvPicPr>
          <p:nvPr/>
        </p:nvPicPr>
        <p:blipFill>
          <a:blip r:embed="rId6"/>
          <a:stretch>
            <a:fillRect/>
          </a:stretch>
        </p:blipFill>
        <p:spPr>
          <a:xfrm>
            <a:off x="7680960" y="3246120"/>
            <a:ext cx="320040" cy="320040"/>
          </a:xfrm>
          <a:prstGeom prst="rect">
            <a:avLst/>
          </a:prstGeom>
        </p:spPr>
      </p:pic>
      <p:sp>
        <p:nvSpPr>
          <p:cNvPr id="20" name="Text 14"/>
          <p:cNvSpPr txBox="1"/>
          <p:nvPr/>
        </p:nvSpPr>
        <p:spPr>
          <a:xfrm>
            <a:off x="8092440" y="3246120"/>
            <a:ext cx="3502152" cy="320040"/>
          </a:xfrm>
          <a:prstGeom prst="rect">
            <a:avLst/>
          </a:prstGeom>
          <a:noFill/>
          <a:ln/>
        </p:spPr>
        <p:txBody>
          <a:bodyPr wrap="square" lIns="0" tIns="0" rIns="0" bIns="0" rtlCol="0" anchor="ctr"/>
          <a:lstStyle/>
          <a:p>
            <a:pPr indent="0" marL="0">
              <a:buNone/>
            </a:pPr>
            <a:r>
              <a:rPr lang="en-US" sz="1400" b="1" dirty="0">
                <a:solidFill>
                  <a:srgbClr val="1F4E8C"/>
                </a:solidFill>
                <a:latin typeface="Aptos" pitchFamily="34" charset="0"/>
                <a:ea typeface="Aptos" pitchFamily="34" charset="-122"/>
                <a:cs typeface="Aptos" pitchFamily="34" charset="-120"/>
              </a:rPr>
              <a:t>Extent of usage of AI tools</a:t>
            </a:r>
            <a:endParaRPr lang="en-US" sz="1400" dirty="0"/>
          </a:p>
        </p:txBody>
      </p:sp>
      <p:sp>
        <p:nvSpPr>
          <p:cNvPr id="21" name="Text 15"/>
          <p:cNvSpPr txBox="1"/>
          <p:nvPr/>
        </p:nvSpPr>
        <p:spPr>
          <a:xfrm>
            <a:off x="7680960" y="3657600"/>
            <a:ext cx="3867912" cy="2377440"/>
          </a:xfrm>
          <a:prstGeom prst="rect">
            <a:avLst/>
          </a:prstGeom>
          <a:noFill/>
          <a:ln/>
        </p:spPr>
        <p:txBody>
          <a:bodyPr wrap="square" lIns="0" tIns="0" rIns="0" bIns="0" rtlCol="0" anchor="t"/>
          <a:lstStyle/>
          <a:p>
            <a:pPr indent="0" marL="0">
              <a:spcAft>
                <a:spcPts val="500"/>
              </a:spcAft>
              <a:buNone/>
            </a:pPr>
            <a:r>
              <a:rPr lang="en-US" sz="1200" b="1" dirty="0">
                <a:solidFill>
                  <a:srgbClr val="1F2937"/>
                </a:solidFill>
                <a:latin typeface="Aptos" pitchFamily="34" charset="0"/>
                <a:ea typeface="Aptos" pitchFamily="34" charset="-122"/>
                <a:cs typeface="Aptos" pitchFamily="34" charset="-120"/>
              </a:rPr>
              <a:t>Tool: </a:t>
            </a:r>
            <a:pPr indent="0" marL="0">
              <a:spcAft>
                <a:spcPts val="500"/>
              </a:spcAft>
              <a:buNone/>
            </a:pPr>
            <a:r>
              <a:rPr lang="en-US" sz="1200" dirty="0">
                <a:solidFill>
                  <a:srgbClr val="1F2937"/>
                </a:solidFill>
                <a:latin typeface="Aptos" pitchFamily="34" charset="0"/>
                <a:ea typeface="Aptos" pitchFamily="34" charset="-122"/>
                <a:cs typeface="Aptos" pitchFamily="34" charset="-120"/>
              </a:rPr>
              <a:t>Claude Code (Anthropic), as coding and research agent.</a:t>
            </a:r>
            <a:endParaRPr lang="en-US" sz="1200" dirty="0"/>
          </a:p>
          <a:p>
            <a:pPr indent="0" marL="0">
              <a:spcAft>
                <a:spcPts val="500"/>
              </a:spcAft>
              <a:buNone/>
            </a:pPr>
            <a:r>
              <a:rPr lang="en-US" sz="1200" b="1" dirty="0">
                <a:solidFill>
                  <a:srgbClr val="1F2937"/>
                </a:solidFill>
                <a:latin typeface="Aptos" pitchFamily="34" charset="0"/>
                <a:ea typeface="Aptos" pitchFamily="34" charset="-122"/>
                <a:cs typeface="Aptos" pitchFamily="34" charset="-120"/>
              </a:rPr>
              <a:t>AI did: </a:t>
            </a:r>
            <a:pPr indent="0" marL="0">
              <a:spcAft>
                <a:spcPts val="500"/>
              </a:spcAft>
              <a:buNone/>
            </a:pPr>
            <a:r>
              <a:rPr lang="en-US" sz="1200" dirty="0">
                <a:solidFill>
                  <a:srgbClr val="1F2937"/>
                </a:solidFill>
                <a:latin typeface="Aptos" pitchFamily="34" charset="0"/>
                <a:ea typeface="Aptos" pitchFamily="34" charset="-122"/>
                <a:cs typeface="Aptos" pitchFamily="34" charset="-120"/>
              </a:rPr>
              <a:t>research report, most code, tests and docs, an independent code review.</a:t>
            </a:r>
            <a:endParaRPr lang="en-US" sz="1200" dirty="0"/>
          </a:p>
          <a:p>
            <a:pPr indent="0" marL="0">
              <a:spcAft>
                <a:spcPts val="500"/>
              </a:spcAft>
              <a:buNone/>
            </a:pPr>
            <a:r>
              <a:rPr lang="en-US" sz="1200" b="1" dirty="0">
                <a:solidFill>
                  <a:srgbClr val="1F2937"/>
                </a:solidFill>
                <a:latin typeface="Aptos" pitchFamily="34" charset="0"/>
                <a:ea typeface="Aptos" pitchFamily="34" charset="-122"/>
                <a:cs typeface="Aptos" pitchFamily="34" charset="-120"/>
              </a:rPr>
              <a:t>Team did: </a:t>
            </a:r>
            <a:pPr indent="0" marL="0">
              <a:spcAft>
                <a:spcPts val="500"/>
              </a:spcAft>
              <a:buNone/>
            </a:pPr>
            <a:r>
              <a:rPr lang="en-US" sz="1200" dirty="0">
                <a:solidFill>
                  <a:srgbClr val="1F2937"/>
                </a:solidFill>
                <a:latin typeface="Aptos" pitchFamily="34" charset="0"/>
                <a:ea typeface="Aptos" pitchFamily="34" charset="-122"/>
                <a:cs typeface="Aptos" pitchFamily="34" charset="-120"/>
              </a:rPr>
              <a:t>chose the problem, set requirements, approved every design and fix, validated results.</a:t>
            </a:r>
            <a:endParaRPr lang="en-US" sz="1200" dirty="0"/>
          </a:p>
          <a:p>
            <a:pPr indent="0" marL="0">
              <a:spcAft>
                <a:spcPts val="500"/>
              </a:spcAft>
              <a:buNone/>
            </a:pPr>
            <a:r>
              <a:rPr lang="en-US" sz="1200" b="1" dirty="0">
                <a:solidFill>
                  <a:srgbClr val="C62828"/>
                </a:solidFill>
                <a:latin typeface="Aptos" pitchFamily="34" charset="0"/>
                <a:ea typeface="Aptos" pitchFamily="34" charset="-122"/>
                <a:cs typeface="Aptos" pitchFamily="34" charset="-120"/>
              </a:rPr>
              <a:t>Share (team estimate): </a:t>
            </a:r>
            <a:pPr indent="0" marL="0">
              <a:spcAft>
                <a:spcPts val="500"/>
              </a:spcAft>
              <a:buNone/>
            </a:pPr>
            <a:r>
              <a:rPr lang="en-US" sz="1200" dirty="0">
                <a:solidFill>
                  <a:srgbClr val="1F2937"/>
                </a:solidFill>
                <a:latin typeface="Aptos" pitchFamily="34" charset="0"/>
                <a:ea typeface="Aptos" pitchFamily="34" charset="-122"/>
                <a:cs typeface="Aptos" pitchFamily="34" charset="-120"/>
              </a:rPr>
              <a:t>about 60–65% of code and documents AI-generated under the team’s direction.</a:t>
            </a:r>
            <a:endParaRPr lang="en-US" sz="1200" dirty="0"/>
          </a:p>
        </p:txBody>
      </p:sp>
      <p:sp>
        <p:nvSpPr>
          <p:cNvPr id="25" name="Slide Number Placeholder 0"/>
          <p:cNvSpPr>
            <a:spLocks noGrp="1"/>
          </p:cNvSpPr>
          <p:nvPr>
            <p:ph type="sldNum" sz="quarter" idx="4294967295"/>
          </p:nvPr>
        </p:nvSpPr>
        <p:spPr>
          <a:xfrm>
            <a:off x="11430000" y="644652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latin typeface="Aptos"/>
                <a:ea typeface="Aptos"/>
                <a:cs typeface="Apto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2011680" y="457200"/>
            <a:ext cx="7772400" cy="685800"/>
          </a:xfrm>
          <a:prstGeom prst="rect">
            <a:avLst/>
          </a:prstGeom>
          <a:noFill/>
          <a:ln/>
        </p:spPr>
        <p:txBody>
          <a:bodyPr wrap="square" lIns="0" tIns="0" rIns="0" bIns="0" rtlCol="0" anchor="ctr"/>
          <a:lstStyle/>
          <a:p>
            <a:pPr algn="ctr" indent="0" marL="0">
              <a:buNone/>
            </a:pPr>
            <a:r>
              <a:rPr lang="en-US" sz="3000" b="1" dirty="0">
                <a:solidFill>
                  <a:srgbClr val="1F4E8C"/>
                </a:solidFill>
                <a:latin typeface="Aptos" pitchFamily="34" charset="0"/>
                <a:ea typeface="Aptos" pitchFamily="34" charset="-122"/>
                <a:cs typeface="Aptos" pitchFamily="34" charset="-120"/>
              </a:rPr>
              <a:t>Impact Potential</a:t>
            </a:r>
            <a:endParaRPr lang="en-US" sz="3000" dirty="0"/>
          </a:p>
        </p:txBody>
      </p:sp>
      <p:sp>
        <p:nvSpPr>
          <p:cNvPr id="3" name="Text 1"/>
          <p:cNvSpPr/>
          <p:nvPr/>
        </p:nvSpPr>
        <p:spPr>
          <a:xfrm>
            <a:off x="182880" y="137160"/>
            <a:ext cx="1581912" cy="868680"/>
          </a:xfrm>
          <a:prstGeom prst="ellipse">
            <a:avLst/>
          </a:prstGeom>
          <a:solidFill>
            <a:srgbClr val="F8CBAD"/>
          </a:solidFill>
          <a:ln w="12700">
            <a:solidFill>
              <a:srgbClr val="F4B183"/>
            </a:solidFill>
          </a:ln>
          <a:effectLst>
            <a:outerShdw sx="100000" sy="100000" kx="0" ky="0" algn="bl" rotWithShape="0" blurRad="38100" dist="25400" dir="5400000">
              <a:srgbClr val="808080">
                <a:alpha val="40000"/>
              </a:srgbClr>
            </a:outerShdw>
          </a:effectLst>
        </p:spPr>
        <p:txBody>
          <a:bodyPr wrap="square" lIns="0" tIns="0" rIns="0" bIns="0" rtlCol="0" anchor="ctr"/>
          <a:lstStyle/>
          <a:p>
            <a:pPr algn="ctr" indent="0" marL="0">
              <a:buNone/>
            </a:pPr>
            <a:r>
              <a:rPr lang="en-US" sz="1800" dirty="0">
                <a:solidFill>
                  <a:srgbClr val="000000"/>
                </a:solidFill>
                <a:latin typeface="Aptos" pitchFamily="34" charset="0"/>
                <a:ea typeface="Aptos" pitchFamily="34" charset="-122"/>
                <a:cs typeface="Aptos" pitchFamily="34" charset="-120"/>
              </a:rPr>
              <a:t>kavach</a:t>
            </a:r>
            <a:endParaRPr lang="en-US" sz="1800" dirty="0"/>
          </a:p>
        </p:txBody>
      </p:sp>
      <p:sp>
        <p:nvSpPr>
          <p:cNvPr id="4" name="Text 2"/>
          <p:cNvSpPr txBox="1"/>
          <p:nvPr/>
        </p:nvSpPr>
        <p:spPr>
          <a:xfrm>
            <a:off x="457200" y="1188720"/>
            <a:ext cx="5669280" cy="292608"/>
          </a:xfrm>
          <a:prstGeom prst="rect">
            <a:avLst/>
          </a:prstGeom>
          <a:noFill/>
          <a:ln/>
        </p:spPr>
        <p:txBody>
          <a:bodyPr wrap="square" lIns="0" tIns="0" rIns="0" bIns="0" rtlCol="0" anchor="t"/>
          <a:lstStyle/>
          <a:p>
            <a:pPr indent="0" marL="0">
              <a:buNone/>
            </a:pPr>
            <a:r>
              <a:rPr lang="en-US" sz="1500" b="1" dirty="0">
                <a:solidFill>
                  <a:srgbClr val="1F4E8C"/>
                </a:solidFill>
                <a:latin typeface="Aptos" pitchFamily="34" charset="0"/>
                <a:ea typeface="Aptos" pitchFamily="34" charset="-122"/>
                <a:cs typeface="Aptos" pitchFamily="34" charset="-120"/>
              </a:rPr>
              <a:t>Potential impact on the target audience</a:t>
            </a:r>
            <a:endParaRPr lang="en-US" sz="1500" dirty="0"/>
          </a:p>
        </p:txBody>
      </p:sp>
      <p:sp>
        <p:nvSpPr>
          <p:cNvPr id="5" name="Text 3"/>
          <p:cNvSpPr txBox="1"/>
          <p:nvPr/>
        </p:nvSpPr>
        <p:spPr>
          <a:xfrm>
            <a:off x="457200" y="1508760"/>
            <a:ext cx="5669280" cy="132588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1F2937"/>
                </a:solidFill>
                <a:latin typeface="Aptos" pitchFamily="34" charset="0"/>
                <a:ea typeface="Aptos" pitchFamily="34" charset="-122"/>
                <a:cs typeface="Aptos" pitchFamily="34" charset="-120"/>
              </a:rPr>
              <a:t>Pilgrims on mountain tracks: Vaishno Devi alone allows up to 50,000 a day.</a:t>
            </a:r>
            <a:endParaRPr lang="en-US" sz="1200" dirty="0"/>
          </a:p>
          <a:p>
            <a:pPr marL="152400" indent="-152400">
              <a:spcAft>
                <a:spcPts val="300"/>
              </a:spcAft>
              <a:buSzPct val="100000"/>
              <a:buChar char="•"/>
            </a:pPr>
            <a:r>
              <a:rPr lang="en-US" sz="1200" b="1" dirty="0">
                <a:solidFill>
                  <a:srgbClr val="1F2937"/>
                </a:solidFill>
                <a:latin typeface="Aptos" pitchFamily="34" charset="0"/>
                <a:ea typeface="Aptos" pitchFamily="34" charset="-122"/>
                <a:cs typeface="Aptos" pitchFamily="34" charset="-120"/>
              </a:rPr>
              <a:t>Replay of 26 Aug 2025: </a:t>
            </a:r>
            <a:pPr indent="0" marL="0">
              <a:buNone/>
            </a:pPr>
            <a:r>
              <a:rPr lang="en-US" sz="1200" dirty="0">
                <a:solidFill>
                  <a:srgbClr val="1F2937"/>
                </a:solidFill>
                <a:latin typeface="Aptos" pitchFamily="34" charset="0"/>
                <a:ea typeface="Aptos" pitchFamily="34" charset="-122"/>
                <a:cs typeface="Aptos" pitchFamily="34" charset="-120"/>
              </a:rPr>
              <a:t>old track RED 1.5–9.5 h before the slide, depending on the weather model.</a:t>
            </a:r>
            <a:endParaRPr lang="en-US" sz="1200" dirty="0"/>
          </a:p>
          <a:p>
            <a:pPr marL="152400" indent="-152400">
              <a:spcAft>
                <a:spcPts val="300"/>
              </a:spcAft>
              <a:buSzPct val="100000"/>
              <a:buChar char="•"/>
            </a:pPr>
            <a:r>
              <a:rPr lang="en-US" sz="1200" b="1" dirty="0">
                <a:solidFill>
                  <a:srgbClr val="1F2937"/>
                </a:solidFill>
                <a:latin typeface="Aptos" pitchFamily="34" charset="0"/>
                <a:ea typeface="Aptos" pitchFamily="34" charset="-122"/>
                <a:cs typeface="Aptos" pitchFamily="34" charset="-120"/>
              </a:rPr>
              <a:t>If held at the first ORANGE: </a:t>
            </a:r>
            <a:pPr indent="0" marL="0">
              <a:buNone/>
            </a:pPr>
            <a:r>
              <a:rPr lang="en-US" sz="1200" dirty="0">
                <a:solidFill>
                  <a:srgbClr val="1F2937"/>
                </a:solidFill>
                <a:latin typeface="Aptos" pitchFamily="34" charset="0"/>
                <a:ea typeface="Aptos" pitchFamily="34" charset="-122"/>
                <a:cs typeface="Aptos" pitchFamily="34" charset="-120"/>
              </a:rPr>
              <a:t>0 pilgrims on the slide segment at 14:00 instead of 674 (SIMULATED).</a:t>
            </a:r>
            <a:endParaRPr lang="en-US" sz="1200" dirty="0"/>
          </a:p>
        </p:txBody>
      </p:sp>
      <p:sp>
        <p:nvSpPr>
          <p:cNvPr id="6" name="Text 4"/>
          <p:cNvSpPr txBox="1"/>
          <p:nvPr/>
        </p:nvSpPr>
        <p:spPr>
          <a:xfrm>
            <a:off x="457200" y="2880360"/>
            <a:ext cx="5669280" cy="292608"/>
          </a:xfrm>
          <a:prstGeom prst="rect">
            <a:avLst/>
          </a:prstGeom>
          <a:noFill/>
          <a:ln/>
        </p:spPr>
        <p:txBody>
          <a:bodyPr wrap="square" lIns="0" tIns="0" rIns="0" bIns="0" rtlCol="0" anchor="t"/>
          <a:lstStyle/>
          <a:p>
            <a:pPr indent="0" marL="0">
              <a:buNone/>
            </a:pPr>
            <a:r>
              <a:rPr lang="en-US" sz="1500" b="1" dirty="0">
                <a:solidFill>
                  <a:srgbClr val="1F4E8C"/>
                </a:solidFill>
                <a:latin typeface="Aptos" pitchFamily="34" charset="0"/>
                <a:ea typeface="Aptos" pitchFamily="34" charset="-122"/>
                <a:cs typeface="Aptos" pitchFamily="34" charset="-120"/>
              </a:rPr>
              <a:t>Benefits of the solution (social, economic, etc.)</a:t>
            </a:r>
            <a:endParaRPr lang="en-US" sz="1500" dirty="0"/>
          </a:p>
        </p:txBody>
      </p:sp>
      <p:sp>
        <p:nvSpPr>
          <p:cNvPr id="7" name="Text 5"/>
          <p:cNvSpPr txBox="1"/>
          <p:nvPr/>
        </p:nvSpPr>
        <p:spPr>
          <a:xfrm>
            <a:off x="457200" y="3200400"/>
            <a:ext cx="5669280" cy="1280160"/>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1F2937"/>
                </a:solidFill>
                <a:latin typeface="Aptos" pitchFamily="34" charset="0"/>
                <a:ea typeface="Aptos" pitchFamily="34" charset="-122"/>
                <a:cs typeface="Aptos" pitchFamily="34" charset="-120"/>
              </a:rPr>
              <a:t>Social: </a:t>
            </a:r>
            <a:pPr indent="0" marL="0">
              <a:buNone/>
            </a:pPr>
            <a:r>
              <a:rPr lang="en-US" sz="1200" dirty="0">
                <a:solidFill>
                  <a:srgbClr val="1F2937"/>
                </a:solidFill>
                <a:latin typeface="Aptos" pitchFamily="34" charset="0"/>
                <a:ea typeface="Aptos" pitchFamily="34" charset="-122"/>
                <a:cs typeface="Aptos" pitchFamily="34" charset="-120"/>
              </a:rPr>
              <a:t>earlier, segment-level action to cut disaster deaths (SDG 11.5, SDG 3).</a:t>
            </a:r>
            <a:endParaRPr lang="en-US" sz="1200" dirty="0"/>
          </a:p>
          <a:p>
            <a:pPr marL="152400" indent="-152400">
              <a:spcAft>
                <a:spcPts val="300"/>
              </a:spcAft>
              <a:buSzPct val="100000"/>
              <a:buChar char="•"/>
            </a:pPr>
            <a:r>
              <a:rPr lang="en-US" sz="1200" b="1" dirty="0">
                <a:solidFill>
                  <a:srgbClr val="1F2937"/>
                </a:solidFill>
                <a:latin typeface="Aptos" pitchFamily="34" charset="0"/>
                <a:ea typeface="Aptos" pitchFamily="34" charset="-122"/>
                <a:cs typeface="Aptos" pitchFamily="34" charset="-120"/>
              </a:rPr>
              <a:t>Economic: </a:t>
            </a:r>
            <a:pPr indent="0" marL="0">
              <a:buNone/>
            </a:pPr>
            <a:r>
              <a:rPr lang="en-US" sz="1200" dirty="0">
                <a:solidFill>
                  <a:srgbClr val="1F2937"/>
                </a:solidFill>
                <a:latin typeface="Aptos" pitchFamily="34" charset="0"/>
                <a:ea typeface="Aptos" pitchFamily="34" charset="-122"/>
                <a:cs typeface="Aptos" pitchFamily="34" charset="-120"/>
              </a:rPr>
              <a:t>hold only the segments at risk instead of the whole route (aim, to test in a pilot).</a:t>
            </a:r>
            <a:endParaRPr lang="en-US" sz="1200" dirty="0"/>
          </a:p>
          <a:p>
            <a:pPr marL="152400" indent="-152400">
              <a:spcAft>
                <a:spcPts val="300"/>
              </a:spcAft>
              <a:buSzPct val="100000"/>
              <a:buChar char="•"/>
            </a:pPr>
            <a:r>
              <a:rPr lang="en-US" sz="1200" b="1" dirty="0">
                <a:solidFill>
                  <a:srgbClr val="1F2937"/>
                </a:solidFill>
                <a:latin typeface="Aptos" pitchFamily="34" charset="0"/>
                <a:ea typeface="Aptos" pitchFamily="34" charset="-122"/>
                <a:cs typeface="Aptos" pitchFamily="34" charset="-120"/>
              </a:rPr>
              <a:t>Governance: </a:t>
            </a:r>
            <a:pPr indent="0" marL="0">
              <a:buNone/>
            </a:pPr>
            <a:r>
              <a:rPr lang="en-US" sz="1200" dirty="0">
                <a:solidFill>
                  <a:srgbClr val="1F2937"/>
                </a:solidFill>
                <a:latin typeface="Aptos" pitchFamily="34" charset="0"/>
                <a:ea typeface="Aptos" pitchFamily="34" charset="-122"/>
                <a:cs typeface="Aptos" pitchFamily="34" charset="-120"/>
              </a:rPr>
              <a:t>every alert carries a named approver and time; the log is tamper-evident.</a:t>
            </a:r>
            <a:endParaRPr lang="en-US" sz="1200" dirty="0"/>
          </a:p>
        </p:txBody>
      </p:sp>
      <p:sp>
        <p:nvSpPr>
          <p:cNvPr id="8" name="Text 6"/>
          <p:cNvSpPr txBox="1"/>
          <p:nvPr/>
        </p:nvSpPr>
        <p:spPr>
          <a:xfrm>
            <a:off x="457200" y="4526280"/>
            <a:ext cx="5669280" cy="292608"/>
          </a:xfrm>
          <a:prstGeom prst="rect">
            <a:avLst/>
          </a:prstGeom>
          <a:noFill/>
          <a:ln/>
        </p:spPr>
        <p:txBody>
          <a:bodyPr wrap="square" lIns="0" tIns="0" rIns="0" bIns="0" rtlCol="0" anchor="t"/>
          <a:lstStyle/>
          <a:p>
            <a:pPr indent="0" marL="0">
              <a:buNone/>
            </a:pPr>
            <a:r>
              <a:rPr lang="en-US" sz="1500" b="1" dirty="0">
                <a:solidFill>
                  <a:srgbClr val="1F4E8C"/>
                </a:solidFill>
                <a:latin typeface="Aptos" pitchFamily="34" charset="0"/>
                <a:ea typeface="Aptos" pitchFamily="34" charset="-122"/>
                <a:cs typeface="Aptos" pitchFamily="34" charset="-120"/>
              </a:rPr>
              <a:t>Stakeholders</a:t>
            </a:r>
            <a:endParaRPr lang="en-US" sz="1500" dirty="0"/>
          </a:p>
        </p:txBody>
      </p:sp>
      <p:sp>
        <p:nvSpPr>
          <p:cNvPr id="9" name="Text 7"/>
          <p:cNvSpPr txBox="1"/>
          <p:nvPr/>
        </p:nvSpPr>
        <p:spPr>
          <a:xfrm>
            <a:off x="457200" y="4846320"/>
            <a:ext cx="5669280" cy="132588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1F2937"/>
                </a:solidFill>
                <a:latin typeface="Aptos" pitchFamily="34" charset="0"/>
                <a:ea typeface="Aptos" pitchFamily="34" charset="-122"/>
                <a:cs typeface="Aptos" pitchFamily="34" charset="-120"/>
              </a:rPr>
              <a:t>Shrine board (SMVDSB) control room, J&amp;K SDMA and district administration</a:t>
            </a:r>
            <a:endParaRPr lang="en-US" sz="1200" dirty="0"/>
          </a:p>
          <a:p>
            <a:pPr marL="152400" indent="-152400">
              <a:spcAft>
                <a:spcPts val="300"/>
              </a:spcAft>
              <a:buSzPct val="100000"/>
              <a:buChar char="•"/>
            </a:pPr>
            <a:r>
              <a:rPr lang="en-US" sz="1200" dirty="0">
                <a:solidFill>
                  <a:srgbClr val="1F2937"/>
                </a:solidFill>
                <a:latin typeface="Aptos" pitchFamily="34" charset="0"/>
                <a:ea typeface="Aptos" pitchFamily="34" charset="-122"/>
                <a:cs typeface="Aptos" pitchFamily="34" charset="-120"/>
              </a:rPr>
              <a:t>SDRF and police on duty; IMD and GSI as data sources; NDMA SACHET for delivery</a:t>
            </a:r>
            <a:endParaRPr lang="en-US" sz="1200" dirty="0"/>
          </a:p>
          <a:p>
            <a:pPr marL="152400" indent="-152400">
              <a:spcAft>
                <a:spcPts val="300"/>
              </a:spcAft>
              <a:buSzPct val="100000"/>
              <a:buChar char="•"/>
            </a:pPr>
            <a:r>
              <a:rPr lang="en-US" sz="1200" dirty="0">
                <a:solidFill>
                  <a:srgbClr val="1F2937"/>
                </a:solidFill>
                <a:latin typeface="Aptos" pitchFamily="34" charset="0"/>
                <a:ea typeface="Aptos" pitchFamily="34" charset="-122"/>
                <a:cs typeface="Aptos" pitchFamily="34" charset="-120"/>
              </a:rPr>
              <a:t>Pony and palki operators, shopkeepers on the track, pilgrims and families</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355080" y="1188720"/>
          <a:ext cx="5376672" cy="914400"/>
        </p:xfrm>
        <a:graphic>
          <a:graphicData uri="http://schemas.openxmlformats.org/drawingml/2006/table">
            <a:tbl>
              <a:tblPr/>
              <a:tblGrid>
                <a:gridCol w="2011680"/>
                <a:gridCol w="1856232"/>
                <a:gridCol w="1508760"/>
              </a:tblGrid>
              <a:tr h="320040">
                <a:tc>
                  <a:txBody>
                    <a:bodyPr/>
                    <a:lstStyle/>
                    <a:p>
                      <a:pPr indent="0" marL="0">
                        <a:buNone/>
                      </a:pPr>
                      <a:r>
                        <a:rPr lang="en-US" sz="1100" b="1" dirty="0">
                          <a:solidFill>
                            <a:srgbClr val="FFFFFF"/>
                          </a:solidFill>
                          <a:latin typeface="Aptos" pitchFamily="34" charset="0"/>
                          <a:ea typeface="Aptos" pitchFamily="34" charset="-122"/>
                          <a:cs typeface="Aptos" pitchFamily="34" charset="-120"/>
                        </a:rPr>
                        <a:t>KPI</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F4E8C"/>
                    </a:solidFill>
                  </a:tcPr>
                </a:tc>
                <a:tc>
                  <a:txBody>
                    <a:bodyPr/>
                    <a:lstStyle/>
                    <a:p>
                      <a:pPr indent="0" marL="0">
                        <a:buNone/>
                      </a:pPr>
                      <a:r>
                        <a:rPr lang="en-US" sz="1100" b="1" dirty="0">
                          <a:solidFill>
                            <a:srgbClr val="FFFFFF"/>
                          </a:solidFill>
                          <a:latin typeface="Aptos" pitchFamily="34" charset="0"/>
                          <a:ea typeface="Aptos" pitchFamily="34" charset="-122"/>
                          <a:cs typeface="Aptos" pitchFamily="34" charset="-120"/>
                        </a:rPr>
                        <a:t>Prototype result</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F4E8C"/>
                    </a:solidFill>
                  </a:tcPr>
                </a:tc>
                <a:tc>
                  <a:txBody>
                    <a:bodyPr/>
                    <a:lstStyle/>
                    <a:p>
                      <a:pPr indent="0" marL="0">
                        <a:buNone/>
                      </a:pPr>
                      <a:r>
                        <a:rPr lang="en-US" sz="1100" b="1" dirty="0">
                          <a:solidFill>
                            <a:srgbClr val="FFFFFF"/>
                          </a:solidFill>
                          <a:latin typeface="Aptos" pitchFamily="34" charset="0"/>
                          <a:ea typeface="Aptos" pitchFamily="34" charset="-122"/>
                          <a:cs typeface="Aptos" pitchFamily="34" charset="-120"/>
                        </a:rPr>
                        <a:t>Pilot target</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F4E8C"/>
                    </a:solidFill>
                  </a:tcPr>
                </a:tc>
              </a:tr>
              <a:tr h="457200">
                <a:tc>
                  <a:txBody>
                    <a:bodyPr/>
                    <a:lstStyle/>
                    <a:p>
                      <a:pPr indent="0" marL="0">
                        <a:buNone/>
                      </a:pPr>
                      <a:r>
                        <a:rPr lang="en-US" sz="1100" dirty="0">
                          <a:solidFill>
                            <a:srgbClr val="1F2937"/>
                          </a:solidFill>
                          <a:latin typeface="Aptos" pitchFamily="34" charset="0"/>
                          <a:ea typeface="Aptos" pitchFamily="34" charset="-122"/>
                          <a:cs typeface="Aptos" pitchFamily="34" charset="-120"/>
                        </a:rPr>
                        <a:t>Lead time of RED before a slide</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100" dirty="0">
                          <a:solidFill>
                            <a:srgbClr val="1F2937"/>
                          </a:solidFill>
                          <a:latin typeface="Aptos" pitchFamily="34" charset="0"/>
                          <a:ea typeface="Aptos" pitchFamily="34" charset="-122"/>
                          <a:cs typeface="Aptos" pitchFamily="34" charset="-120"/>
                        </a:rPr>
                        <a:t>1.5–9.5 h (3 models)</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100" dirty="0">
                          <a:solidFill>
                            <a:srgbClr val="1F2937"/>
                          </a:solidFill>
                          <a:latin typeface="Aptos" pitchFamily="34" charset="0"/>
                          <a:ea typeface="Aptos" pitchFamily="34" charset="-122"/>
                          <a:cs typeface="Aptos" pitchFamily="34" charset="-120"/>
                        </a:rPr>
                        <a:t>≥ 3 h with radar</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11480">
                <a:tc>
                  <a:txBody>
                    <a:bodyPr/>
                    <a:lstStyle/>
                    <a:p>
                      <a:pPr indent="0" marL="0">
                        <a:buNone/>
                      </a:pPr>
                      <a:r>
                        <a:rPr lang="en-US" sz="1100" dirty="0">
                          <a:solidFill>
                            <a:srgbClr val="1F2937"/>
                          </a:solidFill>
                          <a:latin typeface="Aptos" pitchFamily="34" charset="0"/>
                          <a:ea typeface="Aptos" pitchFamily="34" charset="-122"/>
                          <a:cs typeface="Aptos" pitchFamily="34" charset="-120"/>
                        </a:rPr>
                        <a:t>Alerts with named approver and time</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100" dirty="0">
                          <a:solidFill>
                            <a:srgbClr val="1F2937"/>
                          </a:solidFill>
                          <a:latin typeface="Aptos" pitchFamily="34" charset="0"/>
                          <a:ea typeface="Aptos" pitchFamily="34" charset="-122"/>
                          <a:cs typeface="Aptos" pitchFamily="34" charset="-120"/>
                        </a:rPr>
                        <a:t>100%</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100" dirty="0">
                          <a:solidFill>
                            <a:srgbClr val="1F2937"/>
                          </a:solidFill>
                          <a:latin typeface="Aptos" pitchFamily="34" charset="0"/>
                          <a:ea typeface="Aptos" pitchFamily="34" charset="-122"/>
                          <a:cs typeface="Aptos" pitchFamily="34" charset="-120"/>
                        </a:rPr>
                        <a:t>100%</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100" dirty="0">
                          <a:solidFill>
                            <a:srgbClr val="1F2937"/>
                          </a:solidFill>
                          <a:latin typeface="Aptos" pitchFamily="34" charset="0"/>
                          <a:ea typeface="Aptos" pitchFamily="34" charset="-122"/>
                          <a:cs typeface="Aptos" pitchFamily="34" charset="-120"/>
                        </a:rPr>
                        <a:t>Open alerts at peak (26 Aug, 14:00)</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100" dirty="0">
                          <a:solidFill>
                            <a:srgbClr val="1F2937"/>
                          </a:solidFill>
                          <a:latin typeface="Aptos" pitchFamily="34" charset="0"/>
                          <a:ea typeface="Aptos" pitchFamily="34" charset="-122"/>
                          <a:cs typeface="Aptos" pitchFamily="34" charset="-120"/>
                        </a:rPr>
                        <a:t>6: one per track and level</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100" dirty="0">
                          <a:solidFill>
                            <a:srgbClr val="1F2937"/>
                          </a:solidFill>
                          <a:latin typeface="Aptos" pitchFamily="34" charset="0"/>
                          <a:ea typeface="Aptos" pitchFamily="34" charset="-122"/>
                          <a:cs typeface="Aptos" pitchFamily="34" charset="-120"/>
                        </a:rPr>
                        <a:t>≤ 1 per track and level</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100" dirty="0">
                          <a:solidFill>
                            <a:srgbClr val="1F2937"/>
                          </a:solidFill>
                          <a:latin typeface="Aptos" pitchFamily="34" charset="0"/>
                          <a:ea typeface="Aptos" pitchFamily="34" charset="-122"/>
                          <a:cs typeface="Aptos" pitchFamily="34" charset="-120"/>
                        </a:rPr>
                        <a:t>Pilgrims on slide segment at 14:00 (SIMULATED)</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100" dirty="0">
                          <a:solidFill>
                            <a:srgbClr val="1F2937"/>
                          </a:solidFill>
                          <a:latin typeface="Aptos" pitchFamily="34" charset="0"/>
                          <a:ea typeface="Aptos" pitchFamily="34" charset="-122"/>
                          <a:cs typeface="Aptos" pitchFamily="34" charset="-120"/>
                        </a:rPr>
                        <a:t>674 → 0 if held at first ORANGE</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100" dirty="0">
                          <a:solidFill>
                            <a:srgbClr val="1F2937"/>
                          </a:solidFill>
                          <a:latin typeface="Aptos" pitchFamily="34" charset="0"/>
                          <a:ea typeface="Aptos" pitchFamily="34" charset="-122"/>
                          <a:cs typeface="Aptos" pitchFamily="34" charset="-120"/>
                        </a:rPr>
                        <a:t>Decision within 1 h of ORANGE</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02920">
                <a:tc>
                  <a:txBody>
                    <a:bodyPr/>
                    <a:lstStyle/>
                    <a:p>
                      <a:pPr indent="0" marL="0">
                        <a:buNone/>
                      </a:pPr>
                      <a:r>
                        <a:rPr lang="en-US" sz="1100" dirty="0">
                          <a:solidFill>
                            <a:srgbClr val="1F2937"/>
                          </a:solidFill>
                          <a:latin typeface="Aptos" pitchFamily="34" charset="0"/>
                          <a:ea typeface="Aptos" pitchFamily="34" charset="-122"/>
                          <a:cs typeface="Aptos" pitchFamily="34" charset="-120"/>
                        </a:rPr>
                        <a:t>Camera crowd count error</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100" dirty="0">
                          <a:solidFill>
                            <a:srgbClr val="1F2937"/>
                          </a:solidFill>
                          <a:latin typeface="Aptos" pitchFamily="34" charset="0"/>
                          <a:ea typeface="Aptos" pitchFamily="34" charset="-122"/>
                          <a:cs typeface="Aptos" pitchFamily="34" charset="-120"/>
                        </a:rPr>
                        <a:t>MAE 60 / image (ShanghaiTech A)</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100" dirty="0">
                          <a:solidFill>
                            <a:srgbClr val="1F2937"/>
                          </a:solidFill>
                          <a:latin typeface="Aptos" pitchFamily="34" charset="0"/>
                          <a:ea typeface="Aptos" pitchFamily="34" charset="-122"/>
                          <a:cs typeface="Aptos" pitchFamily="34" charset="-120"/>
                        </a:rPr>
                        <a:t>Validated on SMVDSB CCTV</a:t>
                      </a:r>
                      <a:endParaRPr lang="en-US" sz="1100" dirty="0">
                        <a:latin typeface="Aptos" charset="0"/>
                        <a:ea typeface="Aptos" charset="0"/>
                        <a:cs typeface="Aptos" charset="0"/>
                      </a:endParaRPr>
                    </a:p>
                  </a:txBody>
                  <a:tcPr marL="63500" marR="63500" marT="38100" marB="381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11" name="scale"/>
          <p:cNvSpPr/>
          <p:nvPr/>
        </p:nvSpPr>
        <p:spPr>
          <a:xfrm>
            <a:off x="6355080" y="4251960"/>
            <a:ext cx="5376672" cy="1463040"/>
          </a:xfrm>
          <a:prstGeom prst="roundRect">
            <a:avLst>
              <a:gd name="adj" fmla="val 3750"/>
            </a:avLst>
          </a:prstGeom>
          <a:solidFill>
            <a:srgbClr val="F1F4F8"/>
          </a:solidFill>
          <a:ln w="12700">
            <a:solidFill>
              <a:srgbClr val="F1F4F8"/>
            </a:solidFill>
            <a:prstDash val="solid"/>
          </a:ln>
        </p:spPr>
      </p:sp>
      <p:sp>
        <p:nvSpPr>
          <p:cNvPr id="12" name="Text 9"/>
          <p:cNvSpPr txBox="1"/>
          <p:nvPr/>
        </p:nvSpPr>
        <p:spPr>
          <a:xfrm>
            <a:off x="6537960" y="4389120"/>
            <a:ext cx="5029200" cy="1645920"/>
          </a:xfrm>
          <a:prstGeom prst="rect">
            <a:avLst/>
          </a:prstGeom>
          <a:noFill/>
          <a:ln/>
        </p:spPr>
        <p:txBody>
          <a:bodyPr wrap="square" lIns="0" tIns="0" rIns="0" bIns="0" rtlCol="0" anchor="t"/>
          <a:lstStyle/>
          <a:p>
            <a:pPr indent="0" marL="0">
              <a:spcAft>
                <a:spcPts val="600"/>
              </a:spcAft>
              <a:buNone/>
            </a:pPr>
            <a:r>
              <a:rPr lang="en-US" sz="1200" b="1" dirty="0">
                <a:solidFill>
                  <a:srgbClr val="1F4E8C"/>
                </a:solidFill>
                <a:latin typeface="Aptos" pitchFamily="34" charset="0"/>
                <a:ea typeface="Aptos" pitchFamily="34" charset="-122"/>
                <a:cs typeface="Aptos" pitchFamily="34" charset="-120"/>
              </a:rPr>
              <a:t>Scale: </a:t>
            </a:r>
            <a:pPr indent="0" marL="0">
              <a:spcAft>
                <a:spcPts val="600"/>
              </a:spcAft>
              <a:buNone/>
            </a:pPr>
            <a:r>
              <a:rPr lang="en-US" sz="1200" dirty="0">
                <a:solidFill>
                  <a:srgbClr val="1F2937"/>
                </a:solidFill>
                <a:latin typeface="Aptos" pitchFamily="34" charset="0"/>
                <a:ea typeface="Aptos" pitchFamily="34" charset="-122"/>
                <a:cs typeface="Aptos" pitchFamily="34" charset="-120"/>
              </a:rPr>
              <a:t>the same engine works for Amarnath, Machail, Char Dham and Sabarimala; only segments and thresholds change.</a:t>
            </a:r>
            <a:endParaRPr lang="en-US" sz="1200" dirty="0"/>
          </a:p>
          <a:p>
            <a:pPr indent="0" marL="0">
              <a:spcAft>
                <a:spcPts val="600"/>
              </a:spcAft>
              <a:buNone/>
            </a:pPr>
            <a:r>
              <a:rPr lang="en-US" sz="1200" b="1" dirty="0">
                <a:solidFill>
                  <a:srgbClr val="1F4E8C"/>
                </a:solidFill>
                <a:latin typeface="Aptos" pitchFamily="34" charset="0"/>
                <a:ea typeface="Aptos" pitchFamily="34" charset="-122"/>
                <a:cs typeface="Aptos" pitchFamily="34" charset="-120"/>
              </a:rPr>
              <a:t>Sustainable: </a:t>
            </a:r>
            <a:pPr indent="0" marL="0">
              <a:spcAft>
                <a:spcPts val="600"/>
              </a:spcAft>
              <a:buNone/>
            </a:pPr>
            <a:r>
              <a:rPr lang="en-US" sz="1200" dirty="0">
                <a:solidFill>
                  <a:srgbClr val="1F2937"/>
                </a:solidFill>
                <a:latin typeface="Aptos" pitchFamily="34" charset="0"/>
                <a:ea typeface="Aptos" pitchFamily="34" charset="-122"/>
                <a:cs typeface="Aptos" pitchFamily="34" charset="-120"/>
              </a:rPr>
              <a:t>open source (MIT), one small server, fits shrine-board control rooms and SDMA. Languages are templates; add Dogri, Kashmiri, Pahari with native speakers.</a:t>
            </a:r>
            <a:endParaRPr lang="en-US" sz="1200" dirty="0"/>
          </a:p>
        </p:txBody>
      </p:sp>
      <p:sp>
        <p:nvSpPr>
          <p:cNvPr id="25" name="Slide Number Placeholder 0"/>
          <p:cNvSpPr>
            <a:spLocks noGrp="1"/>
          </p:cNvSpPr>
          <p:nvPr>
            <p:ph type="sldNum" sz="quarter" idx="4294967295"/>
          </p:nvPr>
        </p:nvSpPr>
        <p:spPr>
          <a:xfrm>
            <a:off x="11430000" y="644652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latin typeface="Aptos"/>
                <a:ea typeface="Aptos"/>
                <a:cs typeface="Apto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2011680" y="457200"/>
            <a:ext cx="7772400" cy="685800"/>
          </a:xfrm>
          <a:prstGeom prst="rect">
            <a:avLst/>
          </a:prstGeom>
          <a:noFill/>
          <a:ln/>
        </p:spPr>
        <p:txBody>
          <a:bodyPr wrap="square" lIns="0" tIns="0" rIns="0" bIns="0" rtlCol="0" anchor="ctr"/>
          <a:lstStyle/>
          <a:p>
            <a:pPr algn="ctr" indent="0" marL="0">
              <a:buNone/>
            </a:pPr>
            <a:r>
              <a:rPr lang="en-US" sz="3000" b="1" dirty="0">
                <a:solidFill>
                  <a:srgbClr val="1F4E8C"/>
                </a:solidFill>
                <a:latin typeface="Aptos" pitchFamily="34" charset="0"/>
                <a:ea typeface="Aptos" pitchFamily="34" charset="-122"/>
                <a:cs typeface="Aptos" pitchFamily="34" charset="-120"/>
              </a:rPr>
              <a:t>Feasibility and Risk Analysis</a:t>
            </a:r>
            <a:endParaRPr lang="en-US" sz="3000" dirty="0"/>
          </a:p>
        </p:txBody>
      </p:sp>
      <p:sp>
        <p:nvSpPr>
          <p:cNvPr id="3" name="Text 1"/>
          <p:cNvSpPr/>
          <p:nvPr/>
        </p:nvSpPr>
        <p:spPr>
          <a:xfrm>
            <a:off x="182880" y="137160"/>
            <a:ext cx="1581912" cy="868680"/>
          </a:xfrm>
          <a:prstGeom prst="ellipse">
            <a:avLst/>
          </a:prstGeom>
          <a:solidFill>
            <a:srgbClr val="F8CBAD"/>
          </a:solidFill>
          <a:ln w="12700">
            <a:solidFill>
              <a:srgbClr val="F4B183"/>
            </a:solidFill>
          </a:ln>
          <a:effectLst>
            <a:outerShdw sx="100000" sy="100000" kx="0" ky="0" algn="bl" rotWithShape="0" blurRad="38100" dist="25400" dir="5400000">
              <a:srgbClr val="808080">
                <a:alpha val="40000"/>
              </a:srgbClr>
            </a:outerShdw>
          </a:effectLst>
        </p:spPr>
        <p:txBody>
          <a:bodyPr wrap="square" lIns="0" tIns="0" rIns="0" bIns="0" rtlCol="0" anchor="ctr"/>
          <a:lstStyle/>
          <a:p>
            <a:pPr algn="ctr" indent="0" marL="0">
              <a:buNone/>
            </a:pPr>
            <a:r>
              <a:rPr lang="en-US" sz="1800" dirty="0">
                <a:solidFill>
                  <a:srgbClr val="000000"/>
                </a:solidFill>
                <a:latin typeface="Aptos" pitchFamily="34" charset="0"/>
                <a:ea typeface="Aptos" pitchFamily="34" charset="-122"/>
                <a:cs typeface="Aptos" pitchFamily="34" charset="-120"/>
              </a:rPr>
              <a:t>kavach</a:t>
            </a:r>
            <a:endParaRPr lang="en-US" sz="1800" dirty="0"/>
          </a:p>
        </p:txBody>
      </p:sp>
      <p:sp>
        <p:nvSpPr>
          <p:cNvPr id="4" name="Text 2"/>
          <p:cNvSpPr txBox="1"/>
          <p:nvPr/>
        </p:nvSpPr>
        <p:spPr>
          <a:xfrm>
            <a:off x="457200" y="1188720"/>
            <a:ext cx="10972800" cy="292608"/>
          </a:xfrm>
          <a:prstGeom prst="rect">
            <a:avLst/>
          </a:prstGeom>
          <a:noFill/>
          <a:ln/>
        </p:spPr>
        <p:txBody>
          <a:bodyPr wrap="square" lIns="0" tIns="0" rIns="0" bIns="0" rtlCol="0" anchor="t"/>
          <a:lstStyle/>
          <a:p>
            <a:pPr indent="0" marL="0">
              <a:buNone/>
            </a:pPr>
            <a:r>
              <a:rPr lang="en-US" sz="1500" b="1" dirty="0">
                <a:solidFill>
                  <a:srgbClr val="1F4E8C"/>
                </a:solidFill>
                <a:latin typeface="Aptos" pitchFamily="34" charset="0"/>
                <a:ea typeface="Aptos" pitchFamily="34" charset="-122"/>
                <a:cs typeface="Aptos" pitchFamily="34" charset="-120"/>
              </a:rPr>
              <a:t>Analysis of the feasibility of the solution</a:t>
            </a:r>
            <a:endParaRPr lang="en-US" sz="1500" dirty="0"/>
          </a:p>
        </p:txBody>
      </p:sp>
      <p:sp>
        <p:nvSpPr>
          <p:cNvPr id="5" name="tile-1"/>
          <p:cNvSpPr/>
          <p:nvPr/>
        </p:nvSpPr>
        <p:spPr>
          <a:xfrm>
            <a:off x="457200" y="1508760"/>
            <a:ext cx="2697480" cy="1005840"/>
          </a:xfrm>
          <a:prstGeom prst="roundRect">
            <a:avLst>
              <a:gd name="adj" fmla="val 5455"/>
            </a:avLst>
          </a:prstGeom>
          <a:solidFill>
            <a:srgbClr val="F1F4F8"/>
          </a:solidFill>
          <a:ln w="12700">
            <a:solidFill>
              <a:srgbClr val="F1F4F8"/>
            </a:solidFill>
            <a:prstDash val="solid"/>
          </a:ln>
        </p:spPr>
      </p:sp>
      <p:pic>
        <p:nvPicPr>
          <p:cNvPr id="6" name="Image 0" descr="Working prototype">    </p:cNvPr>
          <p:cNvPicPr>
            <a:picLocks noChangeAspect="1"/>
          </p:cNvPicPr>
          <p:nvPr/>
        </p:nvPicPr>
        <p:blipFill>
          <a:blip r:embed="rId1"/>
          <a:stretch>
            <a:fillRect/>
          </a:stretch>
        </p:blipFill>
        <p:spPr>
          <a:xfrm>
            <a:off x="594360" y="1600200"/>
            <a:ext cx="274320" cy="274320"/>
          </a:xfrm>
          <a:prstGeom prst="rect">
            <a:avLst/>
          </a:prstGeom>
        </p:spPr>
      </p:pic>
      <p:sp>
        <p:nvSpPr>
          <p:cNvPr id="7" name="Text 4"/>
          <p:cNvSpPr txBox="1"/>
          <p:nvPr/>
        </p:nvSpPr>
        <p:spPr>
          <a:xfrm>
            <a:off x="960120" y="1600200"/>
            <a:ext cx="2103120" cy="274320"/>
          </a:xfrm>
          <a:prstGeom prst="rect">
            <a:avLst/>
          </a:prstGeom>
          <a:noFill/>
          <a:ln/>
        </p:spPr>
        <p:txBody>
          <a:bodyPr wrap="square" lIns="0" tIns="0" rIns="0" bIns="0" rtlCol="0" anchor="ctr"/>
          <a:lstStyle/>
          <a:p>
            <a:pPr indent="0" marL="0">
              <a:buNone/>
            </a:pPr>
            <a:r>
              <a:rPr lang="en-US" sz="1300" b="1" dirty="0">
                <a:solidFill>
                  <a:srgbClr val="1F4E8C"/>
                </a:solidFill>
                <a:latin typeface="Aptos" pitchFamily="34" charset="0"/>
                <a:ea typeface="Aptos" pitchFamily="34" charset="-122"/>
                <a:cs typeface="Aptos" pitchFamily="34" charset="-120"/>
              </a:rPr>
              <a:t>Working prototype</a:t>
            </a:r>
            <a:endParaRPr lang="en-US" sz="1300" dirty="0"/>
          </a:p>
        </p:txBody>
      </p:sp>
      <p:sp>
        <p:nvSpPr>
          <p:cNvPr id="8" name="Text 5"/>
          <p:cNvSpPr txBox="1"/>
          <p:nvPr/>
        </p:nvSpPr>
        <p:spPr>
          <a:xfrm>
            <a:off x="594360" y="1920240"/>
            <a:ext cx="2423160" cy="548640"/>
          </a:xfrm>
          <a:prstGeom prst="rect">
            <a:avLst/>
          </a:prstGeom>
          <a:noFill/>
          <a:ln/>
        </p:spPr>
        <p:txBody>
          <a:bodyPr wrap="square" lIns="0" tIns="0" rIns="0" bIns="0" rtlCol="0" anchor="t"/>
          <a:lstStyle/>
          <a:p>
            <a:pPr indent="0" marL="0">
              <a:buNone/>
            </a:pPr>
            <a:r>
              <a:rPr lang="en-US" sz="1100" dirty="0">
                <a:solidFill>
                  <a:srgbClr val="1F2937"/>
                </a:solidFill>
                <a:latin typeface="Aptos" pitchFamily="34" charset="0"/>
                <a:ea typeface="Aptos" pitchFamily="34" charset="-122"/>
                <a:cs typeface="Aptos" pitchFamily="34" charset="-120"/>
              </a:rPr>
              <a:t>End to end: hazard, crowd, approval, CAP, audit; 258 tests pass</a:t>
            </a:r>
            <a:endParaRPr lang="en-US" sz="1100" dirty="0"/>
          </a:p>
        </p:txBody>
      </p:sp>
      <p:sp>
        <p:nvSpPr>
          <p:cNvPr id="9" name="tile-2"/>
          <p:cNvSpPr/>
          <p:nvPr/>
        </p:nvSpPr>
        <p:spPr>
          <a:xfrm>
            <a:off x="3319272" y="1508760"/>
            <a:ext cx="2697480" cy="1005840"/>
          </a:xfrm>
          <a:prstGeom prst="roundRect">
            <a:avLst>
              <a:gd name="adj" fmla="val 5455"/>
            </a:avLst>
          </a:prstGeom>
          <a:solidFill>
            <a:srgbClr val="F1F4F8"/>
          </a:solidFill>
          <a:ln w="12700">
            <a:solidFill>
              <a:srgbClr val="F1F4F8"/>
            </a:solidFill>
            <a:prstDash val="solid"/>
          </a:ln>
        </p:spPr>
      </p:sp>
      <p:pic>
        <p:nvPicPr>
          <p:cNvPr id="10" name="Image 1" descr="Open data only">    </p:cNvPr>
          <p:cNvPicPr>
            <a:picLocks noChangeAspect="1"/>
          </p:cNvPicPr>
          <p:nvPr/>
        </p:nvPicPr>
        <p:blipFill>
          <a:blip r:embed="rId2"/>
          <a:stretch>
            <a:fillRect/>
          </a:stretch>
        </p:blipFill>
        <p:spPr>
          <a:xfrm>
            <a:off x="3456432" y="1600200"/>
            <a:ext cx="274320" cy="274320"/>
          </a:xfrm>
          <a:prstGeom prst="rect">
            <a:avLst/>
          </a:prstGeom>
        </p:spPr>
      </p:pic>
      <p:sp>
        <p:nvSpPr>
          <p:cNvPr id="11" name="Text 7"/>
          <p:cNvSpPr txBox="1"/>
          <p:nvPr/>
        </p:nvSpPr>
        <p:spPr>
          <a:xfrm>
            <a:off x="3822192" y="1600200"/>
            <a:ext cx="2103120" cy="274320"/>
          </a:xfrm>
          <a:prstGeom prst="rect">
            <a:avLst/>
          </a:prstGeom>
          <a:noFill/>
          <a:ln/>
        </p:spPr>
        <p:txBody>
          <a:bodyPr wrap="square" lIns="0" tIns="0" rIns="0" bIns="0" rtlCol="0" anchor="ctr"/>
          <a:lstStyle/>
          <a:p>
            <a:pPr indent="0" marL="0">
              <a:buNone/>
            </a:pPr>
            <a:r>
              <a:rPr lang="en-US" sz="1300" b="1" dirty="0">
                <a:solidFill>
                  <a:srgbClr val="1F4E8C"/>
                </a:solidFill>
                <a:latin typeface="Aptos" pitchFamily="34" charset="0"/>
                <a:ea typeface="Aptos" pitchFamily="34" charset="-122"/>
                <a:cs typeface="Aptos" pitchFamily="34" charset="-120"/>
              </a:rPr>
              <a:t>Open data only</a:t>
            </a:r>
            <a:endParaRPr lang="en-US" sz="1300" dirty="0"/>
          </a:p>
        </p:txBody>
      </p:sp>
      <p:sp>
        <p:nvSpPr>
          <p:cNvPr id="12" name="Text 8"/>
          <p:cNvSpPr txBox="1"/>
          <p:nvPr/>
        </p:nvSpPr>
        <p:spPr>
          <a:xfrm>
            <a:off x="3456432" y="1920240"/>
            <a:ext cx="2423160" cy="548640"/>
          </a:xfrm>
          <a:prstGeom prst="rect">
            <a:avLst/>
          </a:prstGeom>
          <a:noFill/>
          <a:ln/>
        </p:spPr>
        <p:txBody>
          <a:bodyPr wrap="square" lIns="0" tIns="0" rIns="0" bIns="0" rtlCol="0" anchor="t"/>
          <a:lstStyle/>
          <a:p>
            <a:pPr indent="0" marL="0">
              <a:buNone/>
            </a:pPr>
            <a:r>
              <a:rPr lang="en-US" sz="1100" dirty="0">
                <a:solidFill>
                  <a:srgbClr val="1F2937"/>
                </a:solidFill>
                <a:latin typeface="Aptos" pitchFamily="34" charset="0"/>
                <a:ea typeface="Aptos" pitchFamily="34" charset="-122"/>
                <a:cs typeface="Aptos" pitchFamily="34" charset="-120"/>
              </a:rPr>
              <a:t>OSM, Copernicus DEM and Open-Meteo; no paid feeds</a:t>
            </a:r>
            <a:endParaRPr lang="en-US" sz="1100" dirty="0"/>
          </a:p>
        </p:txBody>
      </p:sp>
      <p:sp>
        <p:nvSpPr>
          <p:cNvPr id="13" name="tile-3"/>
          <p:cNvSpPr/>
          <p:nvPr/>
        </p:nvSpPr>
        <p:spPr>
          <a:xfrm>
            <a:off x="6181344" y="1508760"/>
            <a:ext cx="2697480" cy="1005840"/>
          </a:xfrm>
          <a:prstGeom prst="roundRect">
            <a:avLst>
              <a:gd name="adj" fmla="val 5455"/>
            </a:avLst>
          </a:prstGeom>
          <a:solidFill>
            <a:srgbClr val="F1F4F8"/>
          </a:solidFill>
          <a:ln w="12700">
            <a:solidFill>
              <a:srgbClr val="F1F4F8"/>
            </a:solidFill>
            <a:prstDash val="solid"/>
          </a:ln>
        </p:spPr>
      </p:sp>
      <p:pic>
        <p:nvPicPr>
          <p:cNvPr id="14" name="Image 2" descr="One small server">    </p:cNvPr>
          <p:cNvPicPr>
            <a:picLocks noChangeAspect="1"/>
          </p:cNvPicPr>
          <p:nvPr/>
        </p:nvPicPr>
        <p:blipFill>
          <a:blip r:embed="rId3"/>
          <a:stretch>
            <a:fillRect/>
          </a:stretch>
        </p:blipFill>
        <p:spPr>
          <a:xfrm>
            <a:off x="6318504" y="1600200"/>
            <a:ext cx="274320" cy="274320"/>
          </a:xfrm>
          <a:prstGeom prst="rect">
            <a:avLst/>
          </a:prstGeom>
        </p:spPr>
      </p:pic>
      <p:sp>
        <p:nvSpPr>
          <p:cNvPr id="15" name="Text 10"/>
          <p:cNvSpPr txBox="1"/>
          <p:nvPr/>
        </p:nvSpPr>
        <p:spPr>
          <a:xfrm>
            <a:off x="6684264" y="1600200"/>
            <a:ext cx="2103120" cy="274320"/>
          </a:xfrm>
          <a:prstGeom prst="rect">
            <a:avLst/>
          </a:prstGeom>
          <a:noFill/>
          <a:ln/>
        </p:spPr>
        <p:txBody>
          <a:bodyPr wrap="square" lIns="0" tIns="0" rIns="0" bIns="0" rtlCol="0" anchor="ctr"/>
          <a:lstStyle/>
          <a:p>
            <a:pPr indent="0" marL="0">
              <a:buNone/>
            </a:pPr>
            <a:r>
              <a:rPr lang="en-US" sz="1300" b="1" dirty="0">
                <a:solidFill>
                  <a:srgbClr val="1F4E8C"/>
                </a:solidFill>
                <a:latin typeface="Aptos" pitchFamily="34" charset="0"/>
                <a:ea typeface="Aptos" pitchFamily="34" charset="-122"/>
                <a:cs typeface="Aptos" pitchFamily="34" charset="-120"/>
              </a:rPr>
              <a:t>One small server</a:t>
            </a:r>
            <a:endParaRPr lang="en-US" sz="1300" dirty="0"/>
          </a:p>
        </p:txBody>
      </p:sp>
      <p:sp>
        <p:nvSpPr>
          <p:cNvPr id="16" name="Text 11"/>
          <p:cNvSpPr txBox="1"/>
          <p:nvPr/>
        </p:nvSpPr>
        <p:spPr>
          <a:xfrm>
            <a:off x="6318504" y="1920240"/>
            <a:ext cx="2423160" cy="548640"/>
          </a:xfrm>
          <a:prstGeom prst="rect">
            <a:avLst/>
          </a:prstGeom>
          <a:noFill/>
          <a:ln/>
        </p:spPr>
        <p:txBody>
          <a:bodyPr wrap="square" lIns="0" tIns="0" rIns="0" bIns="0" rtlCol="0" anchor="t"/>
          <a:lstStyle/>
          <a:p>
            <a:pPr indent="0" marL="0">
              <a:buNone/>
            </a:pPr>
            <a:r>
              <a:rPr lang="en-US" sz="1100" dirty="0">
                <a:solidFill>
                  <a:srgbClr val="1F2937"/>
                </a:solidFill>
                <a:latin typeface="Aptos" pitchFamily="34" charset="0"/>
                <a:ea typeface="Aptos" pitchFamily="34" charset="-122"/>
                <a:cs typeface="Aptos" pitchFamily="34" charset="-120"/>
              </a:rPr>
              <a:t>Docker Compose; open source (MIT)</a:t>
            </a:r>
            <a:endParaRPr lang="en-US" sz="1100" dirty="0"/>
          </a:p>
        </p:txBody>
      </p:sp>
      <p:sp>
        <p:nvSpPr>
          <p:cNvPr id="17" name="tile-4"/>
          <p:cNvSpPr/>
          <p:nvPr/>
        </p:nvSpPr>
        <p:spPr>
          <a:xfrm>
            <a:off x="9043416" y="1508760"/>
            <a:ext cx="2697480" cy="1005840"/>
          </a:xfrm>
          <a:prstGeom prst="roundRect">
            <a:avLst>
              <a:gd name="adj" fmla="val 5455"/>
            </a:avLst>
          </a:prstGeom>
          <a:solidFill>
            <a:srgbClr val="F1F4F8"/>
          </a:solidFill>
          <a:ln w="12700">
            <a:solidFill>
              <a:srgbClr val="F1F4F8"/>
            </a:solidFill>
            <a:prstDash val="solid"/>
          </a:ln>
        </p:spPr>
      </p:sp>
      <p:pic>
        <p:nvPicPr>
          <p:cNvPr id="18" name="Image 3" descr="Fits existing channels">    </p:cNvPr>
          <p:cNvPicPr>
            <a:picLocks noChangeAspect="1"/>
          </p:cNvPicPr>
          <p:nvPr/>
        </p:nvPicPr>
        <p:blipFill>
          <a:blip r:embed="rId4"/>
          <a:stretch>
            <a:fillRect/>
          </a:stretch>
        </p:blipFill>
        <p:spPr>
          <a:xfrm>
            <a:off x="9180576" y="1600200"/>
            <a:ext cx="274320" cy="274320"/>
          </a:xfrm>
          <a:prstGeom prst="rect">
            <a:avLst/>
          </a:prstGeom>
        </p:spPr>
      </p:pic>
      <p:sp>
        <p:nvSpPr>
          <p:cNvPr id="19" name="Text 13"/>
          <p:cNvSpPr txBox="1"/>
          <p:nvPr/>
        </p:nvSpPr>
        <p:spPr>
          <a:xfrm>
            <a:off x="9546336" y="1600200"/>
            <a:ext cx="2103120" cy="274320"/>
          </a:xfrm>
          <a:prstGeom prst="rect">
            <a:avLst/>
          </a:prstGeom>
          <a:noFill/>
          <a:ln/>
        </p:spPr>
        <p:txBody>
          <a:bodyPr wrap="square" lIns="0" tIns="0" rIns="0" bIns="0" rtlCol="0" anchor="ctr"/>
          <a:lstStyle/>
          <a:p>
            <a:pPr indent="0" marL="0">
              <a:buNone/>
            </a:pPr>
            <a:r>
              <a:rPr lang="en-US" sz="1300" b="1" dirty="0">
                <a:solidFill>
                  <a:srgbClr val="1F4E8C"/>
                </a:solidFill>
                <a:latin typeface="Aptos" pitchFamily="34" charset="0"/>
                <a:ea typeface="Aptos" pitchFamily="34" charset="-122"/>
                <a:cs typeface="Aptos" pitchFamily="34" charset="-120"/>
              </a:rPr>
              <a:t>Fits existing channels</a:t>
            </a:r>
            <a:endParaRPr lang="en-US" sz="1300" dirty="0"/>
          </a:p>
        </p:txBody>
      </p:sp>
      <p:sp>
        <p:nvSpPr>
          <p:cNvPr id="20" name="Text 14"/>
          <p:cNvSpPr txBox="1"/>
          <p:nvPr/>
        </p:nvSpPr>
        <p:spPr>
          <a:xfrm>
            <a:off x="9180576" y="1920240"/>
            <a:ext cx="2423160" cy="548640"/>
          </a:xfrm>
          <a:prstGeom prst="rect">
            <a:avLst/>
          </a:prstGeom>
          <a:noFill/>
          <a:ln/>
        </p:spPr>
        <p:txBody>
          <a:bodyPr wrap="square" lIns="0" tIns="0" rIns="0" bIns="0" rtlCol="0" anchor="t"/>
          <a:lstStyle/>
          <a:p>
            <a:pPr indent="0" marL="0">
              <a:buNone/>
            </a:pPr>
            <a:r>
              <a:rPr lang="en-US" sz="1100" dirty="0">
                <a:solidFill>
                  <a:srgbClr val="1F2937"/>
                </a:solidFill>
                <a:latin typeface="Aptos" pitchFamily="34" charset="0"/>
                <a:ea typeface="Aptos" pitchFamily="34" charset="-122"/>
                <a:cs typeface="Aptos" pitchFamily="34" charset="-120"/>
              </a:rPr>
              <a:t>CAP 1.2 is the format SACHET already uses</a:t>
            </a:r>
            <a:endParaRPr lang="en-US" sz="1100" dirty="0"/>
          </a:p>
        </p:txBody>
      </p:sp>
      <p:sp>
        <p:nvSpPr>
          <p:cNvPr id="21" name="Text 15"/>
          <p:cNvSpPr txBox="1"/>
          <p:nvPr/>
        </p:nvSpPr>
        <p:spPr>
          <a:xfrm>
            <a:off x="457200" y="2606040"/>
            <a:ext cx="11274552" cy="502920"/>
          </a:xfrm>
          <a:prstGeom prst="rect">
            <a:avLst/>
          </a:prstGeom>
          <a:noFill/>
          <a:ln/>
        </p:spPr>
        <p:txBody>
          <a:bodyPr wrap="square" lIns="0" tIns="0" rIns="0" bIns="0" rtlCol="0" anchor="t"/>
          <a:lstStyle/>
          <a:p>
            <a:pPr indent="0" marL="0">
              <a:buNone/>
            </a:pPr>
            <a:r>
              <a:rPr lang="en-US" sz="1200" b="1" dirty="0">
                <a:solidFill>
                  <a:srgbClr val="1F4E8C"/>
                </a:solidFill>
                <a:latin typeface="Aptos" pitchFamily="34" charset="0"/>
                <a:ea typeface="Aptos" pitchFamily="34" charset="-122"/>
                <a:cs typeface="Aptos" pitchFamily="34" charset="-120"/>
              </a:rPr>
              <a:t>Roadmap: </a:t>
            </a:r>
            <a:pPr indent="0" marL="0">
              <a:buNone/>
            </a:pPr>
            <a:r>
              <a:rPr lang="en-US" sz="1200" dirty="0">
                <a:solidFill>
                  <a:srgbClr val="1F2937"/>
                </a:solidFill>
                <a:latin typeface="Aptos" pitchFamily="34" charset="0"/>
                <a:ea typeface="Aptos" pitchFamily="34" charset="-122"/>
                <a:cs typeface="Aptos" pitchFamily="34" charset="-120"/>
              </a:rPr>
              <a:t>1 Pilot for one monsoon, read-only, with the SMVDSB control room and SDRF → 2 Calibrate with local slide records, IMD radar, 3–5 rain gauges, GSI layer → 3 Integrate RFID, CCTV and approved CAP to SACHET, app and PA.</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11274552" cy="914400"/>
        </p:xfrm>
        <a:graphic>
          <a:graphicData uri="http://schemas.openxmlformats.org/drawingml/2006/table">
            <a:tbl>
              <a:tblPr/>
              <a:tblGrid>
                <a:gridCol w="5486400"/>
                <a:gridCol w="5788152"/>
              </a:tblGrid>
              <a:tr h="310896">
                <a:tc>
                  <a:txBody>
                    <a:bodyPr/>
                    <a:lstStyle/>
                    <a:p>
                      <a:pPr indent="0" marL="0">
                        <a:buNone/>
                      </a:pPr>
                      <a:r>
                        <a:rPr lang="en-US" sz="1100" b="1" dirty="0">
                          <a:solidFill>
                            <a:srgbClr val="FFFFFF"/>
                          </a:solidFill>
                          <a:latin typeface="Aptos" pitchFamily="34" charset="0"/>
                          <a:ea typeface="Aptos" pitchFamily="34" charset="-122"/>
                          <a:cs typeface="Aptos" pitchFamily="34" charset="-120"/>
                        </a:rPr>
                        <a:t>Potential challenges and risks</a:t>
                      </a:r>
                      <a:endParaRPr lang="en-US" sz="1100" dirty="0">
                        <a:latin typeface="Aptos" charset="0"/>
                        <a:ea typeface="Aptos" charset="0"/>
                        <a:cs typeface="Aptos" charset="0"/>
                      </a:endParaRPr>
                    </a:p>
                  </a:txBody>
                  <a:tcPr marL="76200" marR="76200" marT="25400" marB="254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F4E8C"/>
                    </a:solidFill>
                  </a:tcPr>
                </a:tc>
                <a:tc>
                  <a:txBody>
                    <a:bodyPr/>
                    <a:lstStyle/>
                    <a:p>
                      <a:pPr indent="0" marL="0">
                        <a:buNone/>
                      </a:pPr>
                      <a:r>
                        <a:rPr lang="en-US" sz="1100" b="1" dirty="0">
                          <a:solidFill>
                            <a:srgbClr val="FFFFFF"/>
                          </a:solidFill>
                          <a:latin typeface="Aptos" pitchFamily="34" charset="0"/>
                          <a:ea typeface="Aptos" pitchFamily="34" charset="-122"/>
                          <a:cs typeface="Aptos" pitchFamily="34" charset="-120"/>
                        </a:rPr>
                        <a:t>Strategies for overcoming these challenges</a:t>
                      </a:r>
                      <a:endParaRPr lang="en-US" sz="1100" dirty="0">
                        <a:latin typeface="Aptos" charset="0"/>
                        <a:ea typeface="Aptos" charset="0"/>
                        <a:cs typeface="Aptos" charset="0"/>
                      </a:endParaRPr>
                    </a:p>
                  </a:txBody>
                  <a:tcPr marL="76200" marR="76200" marT="25400" marB="254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F4E8C"/>
                    </a:solidFill>
                  </a:tcPr>
                </a:tc>
              </a:tr>
              <a:tr h="429768">
                <a:tc>
                  <a:txBody>
                    <a:bodyPr/>
                    <a:lstStyle/>
                    <a:p>
                      <a:pPr indent="0" marL="0">
                        <a:buNone/>
                      </a:pPr>
                      <a:r>
                        <a:rPr lang="en-US" sz="1100" dirty="0">
                          <a:solidFill>
                            <a:srgbClr val="1F2937"/>
                          </a:solidFill>
                          <a:latin typeface="Aptos" pitchFamily="34" charset="0"/>
                          <a:ea typeface="Aptos" pitchFamily="34" charset="-122"/>
                          <a:cs typeface="Aptos" pitchFamily="34" charset="-120"/>
                        </a:rPr>
                        <a:t>Rain thresholds come from NH-44 and Nepal studies, not calibrated for these tracks</a:t>
                      </a:r>
                      <a:endParaRPr lang="en-US" sz="1100" dirty="0">
                        <a:latin typeface="Aptos" charset="0"/>
                        <a:ea typeface="Aptos" charset="0"/>
                        <a:cs typeface="Aptos" charset="0"/>
                      </a:endParaRPr>
                    </a:p>
                  </a:txBody>
                  <a:tcPr marL="76200" marR="76200" marT="25400" marB="254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100" dirty="0">
                          <a:solidFill>
                            <a:srgbClr val="1F2937"/>
                          </a:solidFill>
                          <a:latin typeface="Aptos" pitchFamily="34" charset="0"/>
                          <a:ea typeface="Aptos" pitchFamily="34" charset="-122"/>
                          <a:cs typeface="Aptos" pitchFamily="34" charset="-120"/>
                        </a:rPr>
                        <a:t>Read-only pilot for one monsoon; calibrate with local slide records and rain gauges</a:t>
                      </a:r>
                      <a:endParaRPr lang="en-US" sz="1100" dirty="0">
                        <a:latin typeface="Aptos" charset="0"/>
                        <a:ea typeface="Aptos" charset="0"/>
                        <a:cs typeface="Aptos" charset="0"/>
                      </a:endParaRPr>
                    </a:p>
                  </a:txBody>
                  <a:tcPr marL="76200" marR="76200" marT="25400" marB="254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9768">
                <a:tc>
                  <a:txBody>
                    <a:bodyPr/>
                    <a:lstStyle/>
                    <a:p>
                      <a:pPr indent="0" marL="0">
                        <a:buNone/>
                      </a:pPr>
                      <a:r>
                        <a:rPr lang="en-US" sz="1100" dirty="0">
                          <a:solidFill>
                            <a:srgbClr val="1F2937"/>
                          </a:solidFill>
                          <a:latin typeface="Aptos" pitchFamily="34" charset="0"/>
                          <a:ea typeface="Aptos" pitchFamily="34" charset="-122"/>
                          <a:cs typeface="Aptos" pitchFamily="34" charset="-120"/>
                        </a:rPr>
                        <a:t>Forecast rain is on a 9–25 km grid; lead time varies by model (1.5–9.5 h)</a:t>
                      </a:r>
                      <a:endParaRPr lang="en-US" sz="1100" dirty="0">
                        <a:latin typeface="Aptos" charset="0"/>
                        <a:ea typeface="Aptos" charset="0"/>
                        <a:cs typeface="Aptos" charset="0"/>
                      </a:endParaRPr>
                    </a:p>
                  </a:txBody>
                  <a:tcPr marL="76200" marR="76200" marT="25400" marB="254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100" dirty="0">
                          <a:solidFill>
                            <a:srgbClr val="1F2937"/>
                          </a:solidFill>
                          <a:latin typeface="Aptos" pitchFamily="34" charset="0"/>
                          <a:ea typeface="Aptos" pitchFamily="34" charset="-122"/>
                          <a:cs typeface="Aptos" pitchFamily="34" charset="-120"/>
                        </a:rPr>
                        <a:t>Add the IMD radar feed; show the model spread to officers, not one number</a:t>
                      </a:r>
                      <a:endParaRPr lang="en-US" sz="1100" dirty="0">
                        <a:latin typeface="Aptos" charset="0"/>
                        <a:ea typeface="Aptos" charset="0"/>
                        <a:cs typeface="Aptos" charset="0"/>
                      </a:endParaRPr>
                    </a:p>
                  </a:txBody>
                  <a:tcPr marL="76200" marR="76200" marT="25400" marB="254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9768">
                <a:tc>
                  <a:txBody>
                    <a:bodyPr/>
                    <a:lstStyle/>
                    <a:p>
                      <a:pPr indent="0" marL="0">
                        <a:buNone/>
                      </a:pPr>
                      <a:r>
                        <a:rPr lang="en-US" sz="1100" dirty="0">
                          <a:solidFill>
                            <a:srgbClr val="1F2937"/>
                          </a:solidFill>
                          <a:latin typeface="Aptos" pitchFamily="34" charset="0"/>
                          <a:ea typeface="Aptos" pitchFamily="34" charset="-122"/>
                          <a:cs typeface="Aptos" pitchFamily="34" charset="-120"/>
                        </a:rPr>
                        <a:t>Alert fatigue: rules on monsoon rain can fire all season</a:t>
                      </a:r>
                      <a:endParaRPr lang="en-US" sz="1100" dirty="0">
                        <a:latin typeface="Aptos" charset="0"/>
                        <a:ea typeface="Aptos" charset="0"/>
                        <a:cs typeface="Aptos" charset="0"/>
                      </a:endParaRPr>
                    </a:p>
                  </a:txBody>
                  <a:tcPr marL="76200" marR="76200" marT="25400" marB="254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100" dirty="0">
                          <a:solidFill>
                            <a:srgbClr val="1F2937"/>
                          </a:solidFill>
                          <a:latin typeface="Aptos" pitchFamily="34" charset="0"/>
                          <a:ea typeface="Aptos" pitchFamily="34" charset="-122"/>
                          <a:cs typeface="Aptos" pitchFamily="34" charset="-120"/>
                        </a:rPr>
                        <a:t>One alert per track and level: 27 → 6 open alerts in the replay (measured)</a:t>
                      </a:r>
                      <a:endParaRPr lang="en-US" sz="1100" dirty="0">
                        <a:latin typeface="Aptos" charset="0"/>
                        <a:ea typeface="Aptos" charset="0"/>
                        <a:cs typeface="Aptos" charset="0"/>
                      </a:endParaRPr>
                    </a:p>
                  </a:txBody>
                  <a:tcPr marL="76200" marR="76200" marT="25400" marB="254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9768">
                <a:tc>
                  <a:txBody>
                    <a:bodyPr/>
                    <a:lstStyle/>
                    <a:p>
                      <a:pPr indent="0" marL="0">
                        <a:buNone/>
                      </a:pPr>
                      <a:r>
                        <a:rPr lang="en-US" sz="1100" dirty="0">
                          <a:solidFill>
                            <a:srgbClr val="1F2937"/>
                          </a:solidFill>
                          <a:latin typeface="Aptos" pitchFamily="34" charset="0"/>
                          <a:ea typeface="Aptos" pitchFamily="34" charset="-122"/>
                          <a:cs typeface="Aptos" pitchFamily="34" charset="-120"/>
                        </a:rPr>
                        <a:t>A hold moves the risk: 5.4 persons/m² at the Katra gate (SIMULATED)</a:t>
                      </a:r>
                      <a:endParaRPr lang="en-US" sz="1100" dirty="0">
                        <a:latin typeface="Aptos" charset="0"/>
                        <a:ea typeface="Aptos" charset="0"/>
                        <a:cs typeface="Aptos" charset="0"/>
                      </a:endParaRPr>
                    </a:p>
                  </a:txBody>
                  <a:tcPr marL="76200" marR="76200" marT="25400" marB="254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100" dirty="0">
                          <a:solidFill>
                            <a:srgbClr val="1F2937"/>
                          </a:solidFill>
                          <a:latin typeface="Aptos" pitchFamily="34" charset="0"/>
                          <a:ea typeface="Aptos" pitchFamily="34" charset="-122"/>
                          <a:cs typeface="Aptos" pitchFamily="34" charset="-120"/>
                        </a:rPr>
                        <a:t>The simulator shows the queue before approval; staggered holds</a:t>
                      </a:r>
                      <a:endParaRPr lang="en-US" sz="1100" dirty="0">
                        <a:latin typeface="Aptos" charset="0"/>
                        <a:ea typeface="Aptos" charset="0"/>
                        <a:cs typeface="Aptos" charset="0"/>
                      </a:endParaRPr>
                    </a:p>
                  </a:txBody>
                  <a:tcPr marL="76200" marR="76200" marT="25400" marB="254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9768">
                <a:tc>
                  <a:txBody>
                    <a:bodyPr/>
                    <a:lstStyle/>
                    <a:p>
                      <a:pPr indent="0" marL="0">
                        <a:buNone/>
                      </a:pPr>
                      <a:r>
                        <a:rPr lang="en-US" sz="1100" dirty="0">
                          <a:solidFill>
                            <a:srgbClr val="1F2937"/>
                          </a:solidFill>
                          <a:latin typeface="Aptos" pitchFamily="34" charset="0"/>
                          <a:ea typeface="Aptos" pitchFamily="34" charset="-122"/>
                          <a:cs typeface="Aptos" pitchFamily="34" charset="-120"/>
                        </a:rPr>
                        <a:t>Crowd data (RFID, CCTV) is SIMULATED today</a:t>
                      </a:r>
                      <a:endParaRPr lang="en-US" sz="1100" dirty="0">
                        <a:latin typeface="Aptos" charset="0"/>
                        <a:ea typeface="Aptos" charset="0"/>
                        <a:cs typeface="Aptos" charset="0"/>
                      </a:endParaRPr>
                    </a:p>
                  </a:txBody>
                  <a:tcPr marL="76200" marR="76200" marT="25400" marB="254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100" dirty="0">
                          <a:solidFill>
                            <a:srgbClr val="1F2937"/>
                          </a:solidFill>
                          <a:latin typeface="Aptos" pitchFamily="34" charset="0"/>
                          <a:ea typeface="Aptos" pitchFamily="34" charset="-122"/>
                          <a:cs typeface="Aptos" pitchFamily="34" charset="-120"/>
                        </a:rPr>
                        <a:t>Data-sharing MoU with the shrine board; label stays until real data flows</a:t>
                      </a:r>
                      <a:endParaRPr lang="en-US" sz="1100" dirty="0">
                        <a:latin typeface="Aptos" charset="0"/>
                        <a:ea typeface="Aptos" charset="0"/>
                        <a:cs typeface="Aptos" charset="0"/>
                      </a:endParaRPr>
                    </a:p>
                  </a:txBody>
                  <a:tcPr marL="76200" marR="76200" marT="25400" marB="254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9768">
                <a:tc>
                  <a:txBody>
                    <a:bodyPr/>
                    <a:lstStyle/>
                    <a:p>
                      <a:pPr indent="0" marL="0">
                        <a:buNone/>
                      </a:pPr>
                      <a:r>
                        <a:rPr lang="en-US" sz="1100" dirty="0">
                          <a:solidFill>
                            <a:srgbClr val="1F2937"/>
                          </a:solidFill>
                          <a:latin typeface="Aptos" pitchFamily="34" charset="0"/>
                          <a:ea typeface="Aptos" pitchFamily="34" charset="-122"/>
                          <a:cs typeface="Aptos" pitchFamily="34" charset="-120"/>
                        </a:rPr>
                        <a:t>Late or wrong decisions</a:t>
                      </a:r>
                      <a:endParaRPr lang="en-US" sz="1100" dirty="0">
                        <a:latin typeface="Aptos" charset="0"/>
                        <a:ea typeface="Aptos" charset="0"/>
                        <a:cs typeface="Aptos" charset="0"/>
                      </a:endParaRPr>
                    </a:p>
                  </a:txBody>
                  <a:tcPr marL="76200" marR="76200" marT="25400" marB="254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100" dirty="0">
                          <a:solidFill>
                            <a:srgbClr val="1F2937"/>
                          </a:solidFill>
                          <a:latin typeface="Aptos" pitchFamily="34" charset="0"/>
                          <a:ea typeface="Aptos" pitchFamily="34" charset="-122"/>
                          <a:cs typeface="Aptos" pitchFamily="34" charset="-120"/>
                        </a:rPr>
                        <a:t>Two officers for RED, escalation after 10 min, break-glass with a reason, audit log</a:t>
                      </a:r>
                      <a:endParaRPr lang="en-US" sz="1100" dirty="0">
                        <a:latin typeface="Aptos" charset="0"/>
                        <a:ea typeface="Aptos" charset="0"/>
                        <a:cs typeface="Aptos" charset="0"/>
                      </a:endParaRPr>
                    </a:p>
                  </a:txBody>
                  <a:tcPr marL="76200" marR="76200" marT="25400" marB="2540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430000" y="644652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latin typeface="Aptos"/>
                <a:ea typeface="Aptos"/>
                <a:cs typeface="Apto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2011680" y="457200"/>
            <a:ext cx="7772400" cy="685800"/>
          </a:xfrm>
          <a:prstGeom prst="rect">
            <a:avLst/>
          </a:prstGeom>
          <a:noFill/>
          <a:ln/>
        </p:spPr>
        <p:txBody>
          <a:bodyPr wrap="square" lIns="0" tIns="0" rIns="0" bIns="0" rtlCol="0" anchor="ctr"/>
          <a:lstStyle/>
          <a:p>
            <a:pPr algn="ctr" indent="0" marL="0">
              <a:buNone/>
            </a:pPr>
            <a:r>
              <a:rPr lang="en-US" sz="3000" b="1" dirty="0">
                <a:solidFill>
                  <a:srgbClr val="1F4E8C"/>
                </a:solidFill>
                <a:latin typeface="Aptos" pitchFamily="34" charset="0"/>
                <a:ea typeface="Aptos" pitchFamily="34" charset="-122"/>
                <a:cs typeface="Aptos" pitchFamily="34" charset="-120"/>
              </a:rPr>
              <a:t>Team</a:t>
            </a:r>
            <a:endParaRPr lang="en-US" sz="3000" dirty="0"/>
          </a:p>
        </p:txBody>
      </p:sp>
      <p:sp>
        <p:nvSpPr>
          <p:cNvPr id="3" name="Text 1"/>
          <p:cNvSpPr/>
          <p:nvPr/>
        </p:nvSpPr>
        <p:spPr>
          <a:xfrm>
            <a:off x="182880" y="137160"/>
            <a:ext cx="1581912" cy="868680"/>
          </a:xfrm>
          <a:prstGeom prst="ellipse">
            <a:avLst/>
          </a:prstGeom>
          <a:solidFill>
            <a:srgbClr val="F8CBAD"/>
          </a:solidFill>
          <a:ln w="12700">
            <a:solidFill>
              <a:srgbClr val="F4B183"/>
            </a:solidFill>
          </a:ln>
          <a:effectLst>
            <a:outerShdw sx="100000" sy="100000" kx="0" ky="0" algn="bl" rotWithShape="0" blurRad="38100" dist="25400" dir="5400000">
              <a:srgbClr val="808080">
                <a:alpha val="40000"/>
              </a:srgbClr>
            </a:outerShdw>
          </a:effectLst>
        </p:spPr>
        <p:txBody>
          <a:bodyPr wrap="square" lIns="0" tIns="0" rIns="0" bIns="0" rtlCol="0" anchor="ctr"/>
          <a:lstStyle/>
          <a:p>
            <a:pPr algn="ctr" indent="0" marL="0">
              <a:buNone/>
            </a:pPr>
            <a:r>
              <a:rPr lang="en-US" sz="1800" dirty="0">
                <a:solidFill>
                  <a:srgbClr val="000000"/>
                </a:solidFill>
                <a:latin typeface="Aptos" pitchFamily="34" charset="0"/>
                <a:ea typeface="Aptos" pitchFamily="34" charset="-122"/>
                <a:cs typeface="Aptos" pitchFamily="34" charset="-120"/>
              </a:rPr>
              <a:t>kavach</a:t>
            </a:r>
            <a:endParaRPr lang="en-US" sz="1800" dirty="0"/>
          </a:p>
        </p:txBody>
      </p:sp>
      <p:sp>
        <p:nvSpPr>
          <p:cNvPr id="4" name="Text 2"/>
          <p:cNvSpPr txBox="1"/>
          <p:nvPr/>
        </p:nvSpPr>
        <p:spPr>
          <a:xfrm>
            <a:off x="457200" y="1188720"/>
            <a:ext cx="4572000" cy="292608"/>
          </a:xfrm>
          <a:prstGeom prst="rect">
            <a:avLst/>
          </a:prstGeom>
          <a:noFill/>
          <a:ln/>
        </p:spPr>
        <p:txBody>
          <a:bodyPr wrap="square" lIns="0" tIns="0" rIns="0" bIns="0" rtlCol="0" anchor="t"/>
          <a:lstStyle/>
          <a:p>
            <a:pPr indent="0" marL="0">
              <a:buNone/>
            </a:pPr>
            <a:r>
              <a:rPr lang="en-US" sz="1500" b="1" dirty="0">
                <a:solidFill>
                  <a:srgbClr val="1F4E8C"/>
                </a:solidFill>
                <a:latin typeface="Aptos" pitchFamily="34" charset="0"/>
                <a:ea typeface="Aptos" pitchFamily="34" charset="-122"/>
                <a:cs typeface="Aptos" pitchFamily="34" charset="-120"/>
              </a:rPr>
              <a:t>Team Composition</a:t>
            </a:r>
            <a:endParaRPr lang="en-US" sz="1500" dirty="0"/>
          </a:p>
        </p:txBody>
      </p:sp>
      <p:sp>
        <p:nvSpPr>
          <p:cNvPr id="5" name="team-avatar"/>
          <p:cNvSpPr/>
          <p:nvPr/>
        </p:nvSpPr>
        <p:spPr>
          <a:xfrm>
            <a:off x="457200" y="1554480"/>
            <a:ext cx="914400" cy="914400"/>
          </a:xfrm>
          <a:prstGeom prst="ellipse">
            <a:avLst/>
          </a:prstGeom>
          <a:solidFill>
            <a:srgbClr val="1F4E8C"/>
          </a:solidFill>
          <a:ln w="12700">
            <a:solidFill>
              <a:srgbClr val="1F4E8C"/>
            </a:solidFill>
            <a:prstDash val="solid"/>
          </a:ln>
        </p:spPr>
      </p:sp>
      <p:sp>
        <p:nvSpPr>
          <p:cNvPr id="6" name="Text 4"/>
          <p:cNvSpPr txBox="1"/>
          <p:nvPr/>
        </p:nvSpPr>
        <p:spPr>
          <a:xfrm>
            <a:off x="457200" y="1554480"/>
            <a:ext cx="914400" cy="914400"/>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RB</a:t>
            </a:r>
            <a:endParaRPr lang="en-US" sz="2400" dirty="0"/>
          </a:p>
        </p:txBody>
      </p:sp>
      <p:sp>
        <p:nvSpPr>
          <p:cNvPr id="7" name="Text 5"/>
          <p:cNvSpPr txBox="1"/>
          <p:nvPr/>
        </p:nvSpPr>
        <p:spPr>
          <a:xfrm>
            <a:off x="1554480" y="1600200"/>
            <a:ext cx="3840480" cy="365760"/>
          </a:xfrm>
          <a:prstGeom prst="rect">
            <a:avLst/>
          </a:prstGeom>
          <a:noFill/>
          <a:ln/>
        </p:spPr>
        <p:txBody>
          <a:bodyPr wrap="square" lIns="0" tIns="0" rIns="0" bIns="0" rtlCol="0" anchor="t"/>
          <a:lstStyle/>
          <a:p>
            <a:pPr indent="0" marL="0">
              <a:buNone/>
            </a:pPr>
            <a:r>
              <a:rPr lang="en-US" sz="1700" b="1" dirty="0">
                <a:solidFill>
                  <a:srgbClr val="1F4E8C"/>
                </a:solidFill>
                <a:latin typeface="Aptos" pitchFamily="34" charset="0"/>
                <a:ea typeface="Aptos" pitchFamily="34" charset="-122"/>
                <a:cs typeface="Aptos" pitchFamily="34" charset="-120"/>
              </a:rPr>
              <a:t>Ritik Bhardwaj (Team Lead)</a:t>
            </a:r>
            <a:endParaRPr lang="en-US" sz="1700" dirty="0"/>
          </a:p>
        </p:txBody>
      </p:sp>
      <p:sp>
        <p:nvSpPr>
          <p:cNvPr id="8" name="Text 6"/>
          <p:cNvSpPr txBox="1"/>
          <p:nvPr/>
        </p:nvSpPr>
        <p:spPr>
          <a:xfrm>
            <a:off x="1554480" y="1965960"/>
            <a:ext cx="3840480" cy="548640"/>
          </a:xfrm>
          <a:prstGeom prst="rect">
            <a:avLst/>
          </a:prstGeom>
          <a:noFill/>
          <a:ln/>
        </p:spPr>
        <p:txBody>
          <a:bodyPr wrap="square" lIns="0" tIns="0" rIns="0" bIns="0" rtlCol="0" anchor="t"/>
          <a:lstStyle/>
          <a:p>
            <a:pPr indent="0" marL="0">
              <a:buNone/>
            </a:pPr>
            <a:r>
              <a:rPr lang="en-US" sz="1200" dirty="0">
                <a:solidFill>
                  <a:srgbClr val="5B6472"/>
                </a:solidFill>
                <a:latin typeface="Aptos" pitchFamily="34" charset="0"/>
                <a:ea typeface="Aptos" pitchFamily="34" charset="-122"/>
                <a:cs typeface="Aptos" pitchFamily="34" charset="-120"/>
              </a:rPr>
              <a:t>B.Tech Information Technology Engineering, 3rd year, NIT Srinagar · solo entry for J&amp;K</a:t>
            </a:r>
            <a:endParaRPr lang="en-US" sz="1200" dirty="0"/>
          </a:p>
        </p:txBody>
      </p:sp>
      <p:sp>
        <p:nvSpPr>
          <p:cNvPr id="9" name="Text 7"/>
          <p:cNvSpPr txBox="1"/>
          <p:nvPr/>
        </p:nvSpPr>
        <p:spPr>
          <a:xfrm>
            <a:off x="457200" y="2743200"/>
            <a:ext cx="4937760" cy="292608"/>
          </a:xfrm>
          <a:prstGeom prst="rect">
            <a:avLst/>
          </a:prstGeom>
          <a:noFill/>
          <a:ln/>
        </p:spPr>
        <p:txBody>
          <a:bodyPr wrap="square" lIns="0" tIns="0" rIns="0" bIns="0" rtlCol="0" anchor="t"/>
          <a:lstStyle/>
          <a:p>
            <a:pPr indent="0" marL="0">
              <a:buNone/>
            </a:pPr>
            <a:r>
              <a:rPr lang="en-US" sz="1500" b="1" dirty="0">
                <a:solidFill>
                  <a:srgbClr val="1F4E8C"/>
                </a:solidFill>
                <a:latin typeface="Aptos" pitchFamily="34" charset="0"/>
                <a:ea typeface="Aptos" pitchFamily="34" charset="-122"/>
                <a:cs typeface="Aptos" pitchFamily="34" charset="-120"/>
              </a:rPr>
              <a:t>Roles</a:t>
            </a:r>
            <a:endParaRPr lang="en-US" sz="1500" dirty="0"/>
          </a:p>
        </p:txBody>
      </p:sp>
      <p:sp>
        <p:nvSpPr>
          <p:cNvPr id="10" name="Text 8"/>
          <p:cNvSpPr txBox="1"/>
          <p:nvPr/>
        </p:nvSpPr>
        <p:spPr>
          <a:xfrm>
            <a:off x="457200" y="3063240"/>
            <a:ext cx="4937760" cy="1463040"/>
          </a:xfrm>
          <a:prstGeom prst="rect">
            <a:avLst/>
          </a:prstGeom>
          <a:noFill/>
          <a:ln/>
        </p:spPr>
        <p:txBody>
          <a:bodyPr wrap="square" lIns="0" tIns="0" rIns="0" bIns="0" rtlCol="0" anchor="t"/>
          <a:lstStyle/>
          <a:p>
            <a:pPr marL="152400" indent="-152400">
              <a:spcAft>
                <a:spcPts val="300"/>
              </a:spcAft>
              <a:buSzPct val="100000"/>
              <a:buChar char="•"/>
            </a:pPr>
            <a:r>
              <a:rPr lang="en-US" sz="1300" dirty="0">
                <a:solidFill>
                  <a:srgbClr val="1F2937"/>
                </a:solidFill>
                <a:latin typeface="Aptos" pitchFamily="34" charset="0"/>
                <a:ea typeface="Aptos" pitchFamily="34" charset="-122"/>
                <a:cs typeface="Aptos" pitchFamily="34" charset="-120"/>
              </a:rPr>
              <a:t>Problem framing and the J&amp;K focus</a:t>
            </a:r>
            <a:endParaRPr lang="en-US" sz="1300" dirty="0"/>
          </a:p>
          <a:p>
            <a:pPr marL="152400" indent="-152400">
              <a:spcAft>
                <a:spcPts val="300"/>
              </a:spcAft>
              <a:buSzPct val="100000"/>
              <a:buChar char="•"/>
            </a:pPr>
            <a:r>
              <a:rPr lang="en-US" sz="1300" dirty="0">
                <a:solidFill>
                  <a:srgbClr val="1F2937"/>
                </a:solidFill>
                <a:latin typeface="Aptos" pitchFamily="34" charset="0"/>
                <a:ea typeface="Aptos" pitchFamily="34" charset="-122"/>
                <a:cs typeface="Aptos" pitchFamily="34" charset="-120"/>
              </a:rPr>
              <a:t>Requirements, architecture and every design decision</a:t>
            </a:r>
            <a:endParaRPr lang="en-US" sz="1300" dirty="0"/>
          </a:p>
          <a:p>
            <a:pPr marL="152400" indent="-152400">
              <a:spcAft>
                <a:spcPts val="300"/>
              </a:spcAft>
              <a:buSzPct val="100000"/>
              <a:buChar char="•"/>
            </a:pPr>
            <a:r>
              <a:rPr lang="en-US" sz="1300" dirty="0">
                <a:solidFill>
                  <a:srgbClr val="1F2937"/>
                </a:solidFill>
                <a:latin typeface="Aptos" pitchFamily="34" charset="0"/>
                <a:ea typeface="Aptos" pitchFamily="34" charset="-122"/>
                <a:cs typeface="Aptos" pitchFamily="34" charset="-120"/>
              </a:rPr>
              <a:t>Directing the AI agent (code, research, review) and checking its work</a:t>
            </a:r>
            <a:endParaRPr lang="en-US" sz="1300" dirty="0"/>
          </a:p>
          <a:p>
            <a:pPr marL="152400" indent="-152400">
              <a:spcAft>
                <a:spcPts val="300"/>
              </a:spcAft>
              <a:buSzPct val="100000"/>
              <a:buChar char="•"/>
            </a:pPr>
            <a:r>
              <a:rPr lang="en-US" sz="1300" dirty="0">
                <a:solidFill>
                  <a:srgbClr val="1F2937"/>
                </a:solidFill>
                <a:latin typeface="Aptos" pitchFamily="34" charset="0"/>
                <a:ea typeface="Aptos" pitchFamily="34" charset="-122"/>
                <a:cs typeface="Aptos" pitchFamily="34" charset="-120"/>
              </a:rPr>
              <a:t>Validation of the replay results; pitch and demo</a:t>
            </a:r>
            <a:endParaRPr lang="en-US" sz="1300" dirty="0"/>
          </a:p>
        </p:txBody>
      </p:sp>
      <p:sp>
        <p:nvSpPr>
          <p:cNvPr id="11" name="Text 9"/>
          <p:cNvSpPr txBox="1"/>
          <p:nvPr/>
        </p:nvSpPr>
        <p:spPr>
          <a:xfrm>
            <a:off x="5852160" y="1188720"/>
            <a:ext cx="5852160" cy="292608"/>
          </a:xfrm>
          <a:prstGeom prst="rect">
            <a:avLst/>
          </a:prstGeom>
          <a:noFill/>
          <a:ln/>
        </p:spPr>
        <p:txBody>
          <a:bodyPr wrap="square" lIns="0" tIns="0" rIns="0" bIns="0" rtlCol="0" anchor="t"/>
          <a:lstStyle/>
          <a:p>
            <a:pPr indent="0" marL="0">
              <a:buNone/>
            </a:pPr>
            <a:r>
              <a:rPr lang="en-US" sz="1500" b="1" dirty="0">
                <a:solidFill>
                  <a:srgbClr val="1F4E8C"/>
                </a:solidFill>
                <a:latin typeface="Aptos" pitchFamily="34" charset="0"/>
                <a:ea typeface="Aptos" pitchFamily="34" charset="-122"/>
                <a:cs typeface="Aptos" pitchFamily="34" charset="-120"/>
              </a:rPr>
              <a:t>Challenges</a:t>
            </a:r>
            <a:endParaRPr lang="en-US" sz="1500" dirty="0"/>
          </a:p>
        </p:txBody>
      </p:sp>
      <p:sp>
        <p:nvSpPr>
          <p:cNvPr id="12" name="Text 10"/>
          <p:cNvSpPr txBox="1"/>
          <p:nvPr/>
        </p:nvSpPr>
        <p:spPr>
          <a:xfrm>
            <a:off x="5852160" y="1508760"/>
            <a:ext cx="5879592" cy="2103120"/>
          </a:xfrm>
          <a:prstGeom prst="rect">
            <a:avLst/>
          </a:prstGeom>
          <a:noFill/>
          <a:ln/>
        </p:spPr>
        <p:txBody>
          <a:bodyPr wrap="square" lIns="0" tIns="0" rIns="0" bIns="0" rtlCol="0" anchor="t"/>
          <a:lstStyle/>
          <a:p>
            <a:pPr marL="152400" indent="-152400">
              <a:spcAft>
                <a:spcPts val="300"/>
              </a:spcAft>
              <a:buSzPct val="100000"/>
              <a:buChar char="•"/>
            </a:pPr>
            <a:r>
              <a:rPr lang="en-US" sz="1300" b="1" dirty="0">
                <a:solidFill>
                  <a:srgbClr val="1F2937"/>
                </a:solidFill>
                <a:latin typeface="Aptos" pitchFamily="34" charset="0"/>
                <a:ea typeface="Aptos" pitchFamily="34" charset="-122"/>
                <a:cs typeface="Aptos" pitchFamily="34" charset="-120"/>
              </a:rPr>
              <a:t>Time: </a:t>
            </a:r>
            <a:pPr indent="0" marL="0">
              <a:buNone/>
            </a:pPr>
            <a:r>
              <a:rPr lang="en-US" sz="1300" dirty="0">
                <a:solidFill>
                  <a:srgbClr val="1F2937"/>
                </a:solidFill>
                <a:latin typeface="Aptos" pitchFamily="34" charset="0"/>
                <a:ea typeface="Aptos" pitchFamily="34" charset="-122"/>
                <a:cs typeface="Aptos" pitchFamily="34" charset="-120"/>
              </a:rPr>
              <a:t>one person, about four days from idea to submission.</a:t>
            </a:r>
            <a:endParaRPr lang="en-US" sz="1300" dirty="0"/>
          </a:p>
          <a:p>
            <a:pPr marL="152400" indent="-152400">
              <a:spcAft>
                <a:spcPts val="300"/>
              </a:spcAft>
              <a:buSzPct val="100000"/>
              <a:buChar char="•"/>
            </a:pPr>
            <a:r>
              <a:rPr lang="en-US" sz="1300" b="1" dirty="0">
                <a:solidFill>
                  <a:srgbClr val="1F2937"/>
                </a:solidFill>
                <a:latin typeface="Aptos" pitchFamily="34" charset="0"/>
                <a:ea typeface="Aptos" pitchFamily="34" charset="-122"/>
                <a:cs typeface="Aptos" pitchFamily="34" charset="-120"/>
              </a:rPr>
              <a:t>Data gap: </a:t>
            </a:r>
            <a:pPr indent="0" marL="0">
              <a:buNone/>
            </a:pPr>
            <a:r>
              <a:rPr lang="en-US" sz="1300" dirty="0">
                <a:solidFill>
                  <a:srgbClr val="1F2937"/>
                </a:solidFill>
                <a:latin typeface="Aptos" pitchFamily="34" charset="0"/>
                <a:ea typeface="Aptos" pitchFamily="34" charset="-122"/>
                <a:cs typeface="Aptos" pitchFamily="34" charset="-120"/>
              </a:rPr>
              <a:t>the Machail trek is incomplete in OpenStreetMap, so scope was cut to Vaishno Devi (35 segments).</a:t>
            </a:r>
            <a:endParaRPr lang="en-US" sz="1300" dirty="0"/>
          </a:p>
          <a:p>
            <a:pPr marL="152400" indent="-152400">
              <a:spcAft>
                <a:spcPts val="300"/>
              </a:spcAft>
              <a:buSzPct val="100000"/>
              <a:buChar char="•"/>
            </a:pPr>
            <a:r>
              <a:rPr lang="en-US" sz="1300" b="1" dirty="0">
                <a:solidFill>
                  <a:srgbClr val="1F2937"/>
                </a:solidFill>
                <a:latin typeface="Aptos" pitchFamily="34" charset="0"/>
                <a:ea typeface="Aptos" pitchFamily="34" charset="-122"/>
                <a:cs typeface="Aptos" pitchFamily="34" charset="-120"/>
              </a:rPr>
              <a:t>Honest replay: </a:t>
            </a:r>
            <a:pPr indent="0" marL="0">
              <a:buNone/>
            </a:pPr>
            <a:r>
              <a:rPr lang="en-US" sz="1300" dirty="0">
                <a:solidFill>
                  <a:srgbClr val="1F2937"/>
                </a:solidFill>
                <a:latin typeface="Aptos" pitchFamily="34" charset="0"/>
                <a:ea typeface="Aptos" pitchFamily="34" charset="-122"/>
                <a:cs typeface="Aptos" pitchFamily="34" charset="-120"/>
              </a:rPr>
              <a:t>the first version used the slide it predicted; fixed by dating every past-slide factor.</a:t>
            </a:r>
            <a:endParaRPr lang="en-US" sz="1300" dirty="0"/>
          </a:p>
          <a:p>
            <a:pPr marL="152400" indent="-152400">
              <a:spcAft>
                <a:spcPts val="300"/>
              </a:spcAft>
              <a:buSzPct val="100000"/>
              <a:buChar char="•"/>
            </a:pPr>
            <a:r>
              <a:rPr lang="en-US" sz="1300" b="1" dirty="0">
                <a:solidFill>
                  <a:srgbClr val="1F2937"/>
                </a:solidFill>
                <a:latin typeface="Aptos" pitchFamily="34" charset="0"/>
                <a:ea typeface="Aptos" pitchFamily="34" charset="-122"/>
                <a:cs typeface="Aptos" pitchFamily="34" charset="-120"/>
              </a:rPr>
              <a:t>Alert flood: </a:t>
            </a:r>
            <a:pPr indent="0" marL="0">
              <a:buNone/>
            </a:pPr>
            <a:r>
              <a:rPr lang="en-US" sz="1300" dirty="0">
                <a:solidFill>
                  <a:srgbClr val="1F2937"/>
                </a:solidFill>
                <a:latin typeface="Aptos" pitchFamily="34" charset="0"/>
                <a:ea typeface="Aptos" pitchFamily="34" charset="-122"/>
                <a:cs typeface="Aptos" pitchFamily="34" charset="-120"/>
              </a:rPr>
              <a:t>27 open alerts in the first replay; grouping per track and level cut it to 6.</a:t>
            </a:r>
            <a:endParaRPr lang="en-US" sz="1300" dirty="0"/>
          </a:p>
        </p:txBody>
      </p:sp>
      <p:sp>
        <p:nvSpPr>
          <p:cNvPr id="13" name="Text 11"/>
          <p:cNvSpPr txBox="1"/>
          <p:nvPr/>
        </p:nvSpPr>
        <p:spPr>
          <a:xfrm>
            <a:off x="5852160" y="3429000"/>
            <a:ext cx="5879592" cy="292608"/>
          </a:xfrm>
          <a:prstGeom prst="rect">
            <a:avLst/>
          </a:prstGeom>
          <a:noFill/>
          <a:ln/>
        </p:spPr>
        <p:txBody>
          <a:bodyPr wrap="square" lIns="0" tIns="0" rIns="0" bIns="0" rtlCol="0" anchor="t"/>
          <a:lstStyle/>
          <a:p>
            <a:pPr indent="0" marL="0">
              <a:buNone/>
            </a:pPr>
            <a:r>
              <a:rPr lang="en-US" sz="1500" b="1" dirty="0">
                <a:solidFill>
                  <a:srgbClr val="1F4E8C"/>
                </a:solidFill>
                <a:latin typeface="Aptos" pitchFamily="34" charset="0"/>
                <a:ea typeface="Aptos" pitchFamily="34" charset="-122"/>
                <a:cs typeface="Aptos" pitchFamily="34" charset="-120"/>
              </a:rPr>
              <a:t>Any other that the team would like to share about their journey</a:t>
            </a:r>
            <a:endParaRPr lang="en-US" sz="1500" dirty="0"/>
          </a:p>
        </p:txBody>
      </p:sp>
      <p:sp>
        <p:nvSpPr>
          <p:cNvPr id="14" name="journey"/>
          <p:cNvSpPr/>
          <p:nvPr/>
        </p:nvSpPr>
        <p:spPr>
          <a:xfrm>
            <a:off x="5852160" y="3794760"/>
            <a:ext cx="5879592" cy="1417320"/>
          </a:xfrm>
          <a:prstGeom prst="roundRect">
            <a:avLst>
              <a:gd name="adj" fmla="val 3871"/>
            </a:avLst>
          </a:prstGeom>
          <a:solidFill>
            <a:srgbClr val="F1F4F8"/>
          </a:solidFill>
          <a:ln w="12700">
            <a:solidFill>
              <a:srgbClr val="F1F4F8"/>
            </a:solidFill>
            <a:prstDash val="solid"/>
          </a:ln>
        </p:spPr>
      </p:sp>
      <p:sp>
        <p:nvSpPr>
          <p:cNvPr id="15" name="Text 13"/>
          <p:cNvSpPr txBox="1"/>
          <p:nvPr/>
        </p:nvSpPr>
        <p:spPr>
          <a:xfrm>
            <a:off x="6035040" y="3931920"/>
            <a:ext cx="5513832" cy="1234440"/>
          </a:xfrm>
          <a:prstGeom prst="rect">
            <a:avLst/>
          </a:prstGeom>
          <a:noFill/>
          <a:ln/>
        </p:spPr>
        <p:txBody>
          <a:bodyPr wrap="square" lIns="0" tIns="0" rIns="0" bIns="0" rtlCol="0" anchor="t"/>
          <a:lstStyle/>
          <a:p>
            <a:pPr indent="0" marL="0">
              <a:spcAft>
                <a:spcPts val="600"/>
              </a:spcAft>
              <a:buNone/>
            </a:pPr>
            <a:r>
              <a:rPr lang="en-US" sz="1300" b="1" dirty="0">
                <a:solidFill>
                  <a:srgbClr val="C62828"/>
                </a:solidFill>
                <a:latin typeface="Aptos" pitchFamily="34" charset="0"/>
                <a:ea typeface="Aptos" pitchFamily="34" charset="-122"/>
                <a:cs typeface="Aptos" pitchFamily="34" charset="-120"/>
              </a:rPr>
              <a:t>“The warning existed. The decision did not.” </a:t>
            </a:r>
            <a:endParaRPr lang="en-US" sz="1300" dirty="0"/>
          </a:p>
          <a:p>
            <a:pPr indent="0" marL="0">
              <a:spcAft>
                <a:spcPts val="600"/>
              </a:spcAft>
              <a:buNone/>
            </a:pPr>
            <a:r>
              <a:rPr lang="en-US" sz="1300" dirty="0">
                <a:solidFill>
                  <a:srgbClr val="1F2937"/>
                </a:solidFill>
                <a:latin typeface="Aptos" pitchFamily="34" charset="0"/>
                <a:ea typeface="Aptos" pitchFamily="34" charset="-122"/>
                <a:cs typeface="Aptos" pitchFamily="34" charset="-120"/>
              </a:rPr>
              <a:t>Reading the reports on the 2025 disasters showed the gap was not a better forecast but the step from a warning to an owned, recorded decision. So I built that step, and I show the weak case too: with two of three weather models the lead time is only about 1.5 h.</a:t>
            </a:r>
            <a:endParaRPr lang="en-US" sz="1300" dirty="0"/>
          </a:p>
        </p:txBody>
      </p:sp>
      <p:sp>
        <p:nvSpPr>
          <p:cNvPr id="25" name="Slide Number Placeholder 0"/>
          <p:cNvSpPr>
            <a:spLocks noGrp="1"/>
          </p:cNvSpPr>
          <p:nvPr>
            <p:ph type="sldNum" sz="quarter" idx="4294967295"/>
          </p:nvPr>
        </p:nvSpPr>
        <p:spPr>
          <a:xfrm>
            <a:off x="11430000" y="644652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latin typeface="Aptos"/>
                <a:ea typeface="Aptos"/>
                <a:cs typeface="Apto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2011680" y="457200"/>
            <a:ext cx="7772400" cy="685800"/>
          </a:xfrm>
          <a:prstGeom prst="rect">
            <a:avLst/>
          </a:prstGeom>
          <a:noFill/>
          <a:ln/>
        </p:spPr>
        <p:txBody>
          <a:bodyPr wrap="square" lIns="0" tIns="0" rIns="0" bIns="0" rtlCol="0" anchor="ctr"/>
          <a:lstStyle/>
          <a:p>
            <a:pPr algn="ctr" indent="0" marL="0">
              <a:buNone/>
            </a:pPr>
            <a:r>
              <a:rPr lang="en-US" sz="3000" b="1" dirty="0">
                <a:solidFill>
                  <a:srgbClr val="1F4E8C"/>
                </a:solidFill>
                <a:latin typeface="Aptos" pitchFamily="34" charset="0"/>
                <a:ea typeface="Aptos" pitchFamily="34" charset="-122"/>
                <a:cs typeface="Aptos" pitchFamily="34" charset="-120"/>
              </a:rPr>
              <a:t>References</a:t>
            </a:r>
            <a:endParaRPr lang="en-US" sz="3000" dirty="0"/>
          </a:p>
        </p:txBody>
      </p:sp>
      <p:sp>
        <p:nvSpPr>
          <p:cNvPr id="3" name="Text 1"/>
          <p:cNvSpPr/>
          <p:nvPr/>
        </p:nvSpPr>
        <p:spPr>
          <a:xfrm>
            <a:off x="182880" y="137160"/>
            <a:ext cx="1581912" cy="868680"/>
          </a:xfrm>
          <a:prstGeom prst="ellipse">
            <a:avLst/>
          </a:prstGeom>
          <a:solidFill>
            <a:srgbClr val="F8CBAD"/>
          </a:solidFill>
          <a:ln w="12700">
            <a:solidFill>
              <a:srgbClr val="F4B183"/>
            </a:solidFill>
          </a:ln>
          <a:effectLst>
            <a:outerShdw sx="100000" sy="100000" kx="0" ky="0" algn="bl" rotWithShape="0" blurRad="38100" dist="25400" dir="5400000">
              <a:srgbClr val="808080">
                <a:alpha val="40000"/>
              </a:srgbClr>
            </a:outerShdw>
          </a:effectLst>
        </p:spPr>
        <p:txBody>
          <a:bodyPr wrap="square" lIns="0" tIns="0" rIns="0" bIns="0" rtlCol="0" anchor="ctr"/>
          <a:lstStyle/>
          <a:p>
            <a:pPr algn="ctr" indent="0" marL="0">
              <a:buNone/>
            </a:pPr>
            <a:r>
              <a:rPr lang="en-US" sz="1800" dirty="0">
                <a:solidFill>
                  <a:srgbClr val="000000"/>
                </a:solidFill>
                <a:latin typeface="Aptos" pitchFamily="34" charset="0"/>
                <a:ea typeface="Aptos" pitchFamily="34" charset="-122"/>
                <a:cs typeface="Aptos" pitchFamily="34" charset="-120"/>
              </a:rPr>
              <a:t>kavach</a:t>
            </a:r>
            <a:endParaRPr lang="en-US" sz="1800" dirty="0"/>
          </a:p>
        </p:txBody>
      </p:sp>
      <p:sp>
        <p:nvSpPr>
          <p:cNvPr id="4" name="Text 2"/>
          <p:cNvSpPr txBox="1"/>
          <p:nvPr/>
        </p:nvSpPr>
        <p:spPr>
          <a:xfrm>
            <a:off x="457200" y="1188720"/>
            <a:ext cx="10972800" cy="292608"/>
          </a:xfrm>
          <a:prstGeom prst="rect">
            <a:avLst/>
          </a:prstGeom>
          <a:noFill/>
          <a:ln/>
        </p:spPr>
        <p:txBody>
          <a:bodyPr wrap="square" lIns="0" tIns="0" rIns="0" bIns="0" rtlCol="0" anchor="t"/>
          <a:lstStyle/>
          <a:p>
            <a:pPr indent="0" marL="0">
              <a:buNone/>
            </a:pPr>
            <a:r>
              <a:rPr lang="en-US" sz="1500" b="1" dirty="0">
                <a:solidFill>
                  <a:srgbClr val="1F4E8C"/>
                </a:solidFill>
                <a:latin typeface="Aptos" pitchFamily="34" charset="0"/>
                <a:ea typeface="Aptos" pitchFamily="34" charset="-122"/>
                <a:cs typeface="Aptos" pitchFamily="34" charset="-120"/>
              </a:rPr>
              <a:t>Details / Links of the reference and research work</a:t>
            </a:r>
            <a:endParaRPr lang="en-US" sz="1500" dirty="0"/>
          </a:p>
        </p:txBody>
      </p:sp>
      <p:sp>
        <p:nvSpPr>
          <p:cNvPr id="5" name="Text 3"/>
          <p:cNvSpPr txBox="1"/>
          <p:nvPr/>
        </p:nvSpPr>
        <p:spPr>
          <a:xfrm>
            <a:off x="457200" y="1554480"/>
            <a:ext cx="5486400" cy="4663440"/>
          </a:xfrm>
          <a:prstGeom prst="rect">
            <a:avLst/>
          </a:prstGeom>
          <a:noFill/>
          <a:ln/>
        </p:spPr>
        <p:txBody>
          <a:bodyPr wrap="square" lIns="0" tIns="0" rIns="0" bIns="0" rtlCol="0" anchor="t"/>
          <a:lstStyle/>
          <a:p>
            <a:pPr indent="0" marL="0">
              <a:spcAft>
                <a:spcPts val="300"/>
              </a:spcAft>
              <a:buNone/>
            </a:pPr>
            <a:r>
              <a:rPr lang="en-US" sz="1200" b="1" dirty="0">
                <a:solidFill>
                  <a:srgbClr val="1F4E8C"/>
                </a:solidFill>
                <a:latin typeface="Aptos" pitchFamily="34" charset="0"/>
                <a:ea typeface="Aptos" pitchFamily="34" charset="-122"/>
                <a:cs typeface="Aptos" pitchFamily="34" charset="-120"/>
              </a:rPr>
              <a:t>Disasters</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Amarnath 2022, Onmanorama: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onmanorama.com/news/india/2022/07/09/amarnath-flash-floods-not-caused-by-cloudburst-imd.html</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Amarnath 2022, MoES: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www.moes.gov.in/sites/default/files/RS-in-English-1300-28-07-2022.pdf</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Chasoti 2025, ETV Bharat: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3" invalidUrl="" action="" tgtFrame="" tooltip="" history="1" highlightClick="0" endSnd="0">
                  <a:extLst>
                    <a:ext uri="{A12FA001-AC4F-418D-AE19-62706E023703}">
                      <ahyp:hlinkClr xmlns:ahyp="http://schemas.microsoft.com/office/drawing/2018/hyperlinkcolor" val="tx"/>
                    </a:ext>
                  </a:extLst>
                </a:hlinkClick>
              </a:rPr>
              <a:t>www.etvbharat.com/en/!bharat/kishtwar-cloudburst-exposes-laxity-in-response-to-weather-warnings-in-jammu-kashmir-enn25082003499</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Vaishno Devi 2025, Tribune: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www.tribuneindia.com/news/j-k/no-lapses-vaishno-devi-board-calls-landslip-tragedy-unforeseeable</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Vaishno Devi probe, Tribune: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5" invalidUrl="" action="" tgtFrame="" tooltip="" history="1" highlightClick="0" endSnd="0">
                  <a:extLst>
                    <a:ext uri="{A12FA001-AC4F-418D-AE19-62706E023703}">
                      <ahyp:hlinkClr xmlns:ahyp="http://schemas.microsoft.com/office/drawing/2018/hyperlinkcolor" val="tx"/>
                    </a:ext>
                  </a:extLst>
                </a:hlinkClick>
              </a:rPr>
              <a:t>www.tribuneindia.com/news/j-k/deadline-over-vaishno-devi-landslip-probe-report-not-out-yet</a:t>
            </a:r>
            <a:endParaRPr lang="en-US" sz="900" dirty="0"/>
          </a:p>
          <a:p>
            <a:pPr indent="0" marL="0">
              <a:spcAft>
                <a:spcPts val="300"/>
              </a:spcAft>
              <a:buNone/>
            </a:pPr>
            <a:r>
              <a:rPr lang="en-US" sz="1200" b="1" dirty="0">
                <a:solidFill>
                  <a:srgbClr val="1F4E8C"/>
                </a:solidFill>
                <a:latin typeface="Aptos" pitchFamily="34" charset="0"/>
                <a:ea typeface="Aptos" pitchFamily="34" charset="-122"/>
                <a:cs typeface="Aptos" pitchFamily="34" charset="-120"/>
              </a:rPr>
              <a:t>Existing systems</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SMVDSB 700+ cameras, Tribune: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www.tribuneindia.com/news/j-k/vaishno-devi-shrine-sets-up-dedicated-network-of-over-700-cameras-for-e-surveillance-474077</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GSI landslide bulletins, Business Standard: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7" invalidUrl="" action="" tgtFrame="" tooltip="" history="1" highlightClick="0" endSnd="0">
                  <a:extLst>
                    <a:ext uri="{A12FA001-AC4F-418D-AE19-62706E023703}">
                      <ahyp:hlinkClr xmlns:ahyp="http://schemas.microsoft.com/office/drawing/2018/hyperlinkcolor" val="tx"/>
                    </a:ext>
                  </a:extLst>
                </a:hlinkClick>
              </a:rPr>
              <a:t>www.business-standard.com/india-news/gsi-plans-to-use-ai-to-develop-robust-landslide-forecasting-model-dg-125072000196_1.html</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NDMA cell broadcast, ETV Bharat: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8" invalidUrl="" action="" tgtFrame="" tooltip="" history="1" highlightClick="0" endSnd="0">
                  <a:extLst>
                    <a:ext uri="{A12FA001-AC4F-418D-AE19-62706E023703}">
                      <ahyp:hlinkClr xmlns:ahyp="http://schemas.microsoft.com/office/drawing/2018/hyperlinkcolor" val="tx"/>
                    </a:ext>
                  </a:extLst>
                </a:hlinkClick>
              </a:rPr>
              <a:t>www.etvbharat.com/en/bharat/ndma-tests-cell-broadcast-message-to-alert-citizens-on-severe-disaster-enn26050201915</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CAP 1.2, ITU-T X.1303bis: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9" invalidUrl="" action="" tgtFrame="" tooltip="" history="1" highlightClick="0" endSnd="0">
                  <a:extLst>
                    <a:ext uri="{A12FA001-AC4F-418D-AE19-62706E023703}">
                      <ahyp:hlinkClr xmlns:ahyp="http://schemas.microsoft.com/office/drawing/2018/hyperlinkcolor" val="tx"/>
                    </a:ext>
                  </a:extLst>
                </a:hlinkClick>
              </a:rPr>
              <a:t>www.itu.int/wftp3/Public/t/fl/itu-t/x/x1303bis/2014/CAP-1-2.html</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Early Warnings for All, WMO: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10" invalidUrl="" action="" tgtFrame="" tooltip="" history="1" highlightClick="0" endSnd="0">
                  <a:extLst>
                    <a:ext uri="{A12FA001-AC4F-418D-AE19-62706E023703}">
                      <ahyp:hlinkClr xmlns:ahyp="http://schemas.microsoft.com/office/drawing/2018/hyperlinkcolor" val="tx"/>
                    </a:ext>
                  </a:extLst>
                </a:hlinkClick>
              </a:rPr>
              <a:t>wmo.int/resources/wmo-bulletin/wmo-bulletin-vol-72-1-2023/overview-of-early-warnings-all-executive-action-plan-2023-2027</a:t>
            </a:r>
            <a:endParaRPr lang="en-US" sz="900" dirty="0"/>
          </a:p>
        </p:txBody>
      </p:sp>
      <p:sp>
        <p:nvSpPr>
          <p:cNvPr id="6" name="Text 4"/>
          <p:cNvSpPr txBox="1"/>
          <p:nvPr/>
        </p:nvSpPr>
        <p:spPr>
          <a:xfrm>
            <a:off x="6245352" y="1554480"/>
            <a:ext cx="5486400" cy="4663440"/>
          </a:xfrm>
          <a:prstGeom prst="rect">
            <a:avLst/>
          </a:prstGeom>
          <a:noFill/>
          <a:ln/>
        </p:spPr>
        <p:txBody>
          <a:bodyPr wrap="square" lIns="0" tIns="0" rIns="0" bIns="0" rtlCol="0" anchor="t"/>
          <a:lstStyle/>
          <a:p>
            <a:pPr indent="0" marL="0">
              <a:spcAft>
                <a:spcPts val="300"/>
              </a:spcAft>
              <a:buNone/>
            </a:pPr>
            <a:r>
              <a:rPr lang="en-US" sz="1200" b="1" dirty="0">
                <a:solidFill>
                  <a:srgbClr val="1F4E8C"/>
                </a:solidFill>
                <a:latin typeface="Aptos" pitchFamily="34" charset="0"/>
                <a:ea typeface="Aptos" pitchFamily="34" charset="-122"/>
                <a:cs typeface="Aptos" pitchFamily="34" charset="-120"/>
              </a:rPr>
              <a:t>Science and models</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J&amp;K rain thresholds, Shah et al. 2024: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11" invalidUrl="" action="" tgtFrame="" tooltip="" history="1" highlightClick="0" endSnd="0">
                  <a:extLst>
                    <a:ext uri="{A12FA001-AC4F-418D-AE19-62706E023703}">
                      <ahyp:hlinkClr xmlns:ahyp="http://schemas.microsoft.com/office/drawing/2018/hyperlinkcolor" val="tx"/>
                    </a:ext>
                  </a:extLst>
                </a:hlinkClick>
              </a:rPr>
              <a:t>ideas.repec.org/a/spr/nathaz/v120y2024i2d10.1007_s11069-023-06254-w.html</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Nepal I–D threshold, Dahal &amp; Hasegawa 2008: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12" invalidUrl="" action="" tgtFrame="" tooltip="" history="1" highlightClick="0" endSnd="0">
                  <a:extLst>
                    <a:ext uri="{A12FA001-AC4F-418D-AE19-62706E023703}">
                      <ahyp:hlinkClr xmlns:ahyp="http://schemas.microsoft.com/office/drawing/2018/hyperlinkcolor" val="tx"/>
                    </a:ext>
                  </a:extLst>
                </a:hlinkClick>
              </a:rPr>
              <a:t>dpnet.org.np/uploads/files/rainfall%20threshold2008%202021-09-17%2006-39-49.pdf</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Crowd density limits, G. Keith Still: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13" invalidUrl="" action="" tgtFrame="" tooltip="" history="1" highlightClick="0" endSnd="0">
                  <a:extLst>
                    <a:ext uri="{A12FA001-AC4F-418D-AE19-62706E023703}">
                      <ahyp:hlinkClr xmlns:ahyp="http://schemas.microsoft.com/office/drawing/2018/hyperlinkcolor" val="tx"/>
                    </a:ext>
                  </a:extLst>
                </a:hlinkClick>
              </a:rPr>
              <a:t>gkstill.com/Support/crowd-flow/fruin/Fruin1.html</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Crowd turbulence, Helbing et al.: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14" invalidUrl="" action="" tgtFrame="" tooltip="" history="1" highlightClick="0" endSnd="0">
                  <a:extLst>
                    <a:ext uri="{A12FA001-AC4F-418D-AE19-62706E023703}">
                      <ahyp:hlinkClr xmlns:ahyp="http://schemas.microsoft.com/office/drawing/2018/hyperlinkcolor" val="tx"/>
                    </a:ext>
                  </a:extLst>
                </a:hlinkClick>
              </a:rPr>
              <a:t>arxiv.org/abs/physics/0701203</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DM-Count crowd model (MIT):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15" invalidUrl="" action="" tgtFrame="" tooltip="" history="1" highlightClick="0" endSnd="0">
                  <a:extLst>
                    <a:ext uri="{A12FA001-AC4F-418D-AE19-62706E023703}">
                      <ahyp:hlinkClr xmlns:ahyp="http://schemas.microsoft.com/office/drawing/2018/hyperlinkcolor" val="tx"/>
                    </a:ext>
                  </a:extLst>
                </a:hlinkClick>
              </a:rPr>
              <a:t>github.com/cvlab-stonybrook/DM-Count</a:t>
            </a:r>
            <a:endParaRPr lang="en-US" sz="900" dirty="0"/>
          </a:p>
          <a:p>
            <a:pPr indent="0" marL="0">
              <a:spcAft>
                <a:spcPts val="300"/>
              </a:spcAft>
              <a:buNone/>
            </a:pPr>
            <a:r>
              <a:rPr lang="en-US" sz="1200" b="1" dirty="0">
                <a:solidFill>
                  <a:srgbClr val="1F4E8C"/>
                </a:solidFill>
                <a:latin typeface="Aptos" pitchFamily="34" charset="0"/>
                <a:ea typeface="Aptos" pitchFamily="34" charset="-122"/>
                <a:cs typeface="Aptos" pitchFamily="34" charset="-120"/>
              </a:rPr>
              <a:t>Data used (attribution)</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Tracks © OpenStreetMap contributors (ODbL):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16" invalidUrl="" action="" tgtFrame="" tooltip="" history="1" highlightClick="0" endSnd="0">
                  <a:extLst>
                    <a:ext uri="{A12FA001-AC4F-418D-AE19-62706E023703}">
                      <ahyp:hlinkClr xmlns:ahyp="http://schemas.microsoft.com/office/drawing/2018/hyperlinkcolor" val="tx"/>
                    </a:ext>
                  </a:extLst>
                </a:hlinkClick>
              </a:rPr>
              <a:t>www.openstreetmap.org/copyright</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Rain + Copernicus DEM, Open-Meteo (CC BY 4.0):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17" invalidUrl="" action="" tgtFrame="" tooltip="" history="1" highlightClick="0" endSnd="0">
                  <a:extLst>
                    <a:ext uri="{A12FA001-AC4F-418D-AE19-62706E023703}">
                      <ahyp:hlinkClr xmlns:ahyp="http://schemas.microsoft.com/office/drawing/2018/hyperlinkcolor" val="tx"/>
                    </a:ext>
                  </a:extLst>
                </a:hlinkClick>
              </a:rPr>
              <a:t>open-meteo.com/en/docs/historical-forecast-api</a:t>
            </a:r>
            <a:endParaRPr lang="en-US" sz="900" dirty="0"/>
          </a:p>
          <a:p>
            <a:pPr indent="0" marL="0">
              <a:spcAft>
                <a:spcPts val="300"/>
              </a:spcAft>
              <a:buNone/>
            </a:pPr>
            <a:r>
              <a:rPr lang="en-US" sz="1200" b="1" dirty="0">
                <a:solidFill>
                  <a:srgbClr val="1F4E8C"/>
                </a:solidFill>
                <a:latin typeface="Aptos" pitchFamily="34" charset="0"/>
                <a:ea typeface="Aptos" pitchFamily="34" charset="-122"/>
                <a:cs typeface="Aptos" pitchFamily="34" charset="-120"/>
              </a:rPr>
              <a:t>Project</a:t>
            </a:r>
            <a:endParaRPr lang="en-US" sz="900" dirty="0"/>
          </a:p>
          <a:p>
            <a:pPr indent="0" marL="0">
              <a:spcAft>
                <a:spcPts val="300"/>
              </a:spcAft>
              <a:buNone/>
            </a:pPr>
            <a:r>
              <a:rPr lang="en-US" sz="900" b="1" dirty="0">
                <a:solidFill>
                  <a:srgbClr val="1F2937"/>
                </a:solidFill>
                <a:latin typeface="Aptos" pitchFamily="34" charset="0"/>
                <a:ea typeface="Aptos" pitchFamily="34" charset="-122"/>
                <a:cs typeface="Aptos" pitchFamily="34" charset="-120"/>
              </a:rPr>
              <a:t>Code, research notes, replay data: </a:t>
            </a:r>
            <a:pPr indent="0" marL="0">
              <a:spcAft>
                <a:spcPts val="300"/>
              </a:spcAft>
              <a:buNone/>
            </a:pPr>
            <a:r>
              <a:rPr lang="en-US" sz="900" u="sng" dirty="0">
                <a:solidFill>
                  <a:srgbClr val="1F4E8C"/>
                </a:solidFill>
                <a:latin typeface="Aptos" pitchFamily="34" charset="0"/>
                <a:ea typeface="Aptos" pitchFamily="34" charset="-122"/>
                <a:cs typeface="Aptos" pitchFamily="34" charset="-120"/>
                <a:hlinkClick r:id="rId18" invalidUrl="" action="" tgtFrame="" tooltip="" history="1" highlightClick="0" endSnd="0">
                  <a:extLst>
                    <a:ext uri="{A12FA001-AC4F-418D-AE19-62706E023703}">
                      <ahyp:hlinkClr xmlns:ahyp="http://schemas.microsoft.com/office/drawing/2018/hyperlinkcolor" val="tx"/>
                    </a:ext>
                  </a:extLst>
                </a:hlinkClick>
              </a:rPr>
              <a:t>github.com/RitikBhardwaj-programmer/YatraKavach</a:t>
            </a:r>
            <a:endParaRPr lang="en-US" sz="900" dirty="0"/>
          </a:p>
        </p:txBody>
      </p:sp>
      <p:sp>
        <p:nvSpPr>
          <p:cNvPr id="7" name="Text 5"/>
          <p:cNvSpPr txBox="1"/>
          <p:nvPr/>
        </p:nvSpPr>
        <p:spPr>
          <a:xfrm>
            <a:off x="457200" y="6035040"/>
            <a:ext cx="11274552" cy="365760"/>
          </a:xfrm>
          <a:prstGeom prst="rect">
            <a:avLst/>
          </a:prstGeom>
          <a:noFill/>
          <a:ln/>
        </p:spPr>
        <p:txBody>
          <a:bodyPr wrap="square" lIns="0" tIns="0" rIns="0" bIns="0" rtlCol="0" anchor="t"/>
          <a:lstStyle/>
          <a:p>
            <a:pPr indent="0" marL="0">
              <a:buNone/>
            </a:pPr>
            <a:r>
              <a:rPr lang="en-US" sz="900" dirty="0">
                <a:solidFill>
                  <a:srgbClr val="5B6472"/>
                </a:solidFill>
                <a:latin typeface="Aptos" pitchFamily="34" charset="0"/>
                <a:ea typeface="Aptos" pitchFamily="34" charset="-122"/>
                <a:cs typeface="Aptos" pitchFamily="34" charset="-120"/>
              </a:rPr>
              <a:t>Full sourced research: docs/research.md and research_notes/ in the repo. Pilgrim counts, holding queues and delivery channels are SIMULATED; all CAP messages are status=Exercise. Demo photos: Wikimedia Commons, authors in the repo.</a:t>
            </a:r>
            <a:endParaRPr lang="en-US" sz="900" dirty="0"/>
          </a:p>
        </p:txBody>
      </p:sp>
      <p:sp>
        <p:nvSpPr>
          <p:cNvPr id="25" name="Slide Number Placeholder 0"/>
          <p:cNvSpPr>
            <a:spLocks noGrp="1"/>
          </p:cNvSpPr>
          <p:nvPr>
            <p:ph type="sldNum" sz="quarter" idx="4294967295"/>
          </p:nvPr>
        </p:nvSpPr>
        <p:spPr>
          <a:xfrm>
            <a:off x="11430000" y="644652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latin typeface="Aptos"/>
                <a:ea typeface="Aptos"/>
                <a:cs typeface="Aptos"/>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YatraKavach: HSC 2027 submission</dc:title>
  <dc:subject>PptxGenJS Presentation</dc:subject>
  <dc:creator>Team kavach (Ritik Bhardwaj)</dc:creator>
  <cp:lastModifiedBy>Team kavach (Ritik Bhardwaj)</cp:lastModifiedBy>
  <cp:revision>1</cp:revision>
  <dcterms:created xsi:type="dcterms:W3CDTF">2026-10-27T16:18:26Z</dcterms:created>
  <dcterms:modified xsi:type="dcterms:W3CDTF">2026-10-27T16:18:26Z</dcterms:modified>
</cp:coreProperties>
</file>